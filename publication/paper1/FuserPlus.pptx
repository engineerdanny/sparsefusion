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y="5143500" cx="9144000"/>
  <p:notesSz cx="6858000" cy="9144000"/>
  <p:embeddedFontLst>
    <p:embeddedFont>
      <p:font typeface="Roboto"/>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FA38794-CA9A-4C22-9210-341691C4999A}">
  <a:tblStyle styleId="{DFA38794-CA9A-4C22-9210-341691C4999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Roboto-bold.fntdata"/><Relationship Id="rId12" Type="http://schemas.openxmlformats.org/officeDocument/2006/relationships/slide" Target="slides/slide6.xml"/><Relationship Id="rId34" Type="http://schemas.openxmlformats.org/officeDocument/2006/relationships/font" Target="fonts/Roboto-regular.fntdata"/><Relationship Id="rId15" Type="http://schemas.openxmlformats.org/officeDocument/2006/relationships/slide" Target="slides/slide9.xml"/><Relationship Id="rId37" Type="http://schemas.openxmlformats.org/officeDocument/2006/relationships/font" Target="fonts/Roboto-boldItalic.fntdata"/><Relationship Id="rId14" Type="http://schemas.openxmlformats.org/officeDocument/2006/relationships/slide" Target="slides/slide8.xml"/><Relationship Id="rId36" Type="http://schemas.openxmlformats.org/officeDocument/2006/relationships/font" Target="fonts/Roboto-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bf33c05491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bf33c05491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cc01875f62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cc01875f6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cc01875f62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cc01875f62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cc01875f62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cc01875f62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ca728b7977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ca728b797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cc01875f62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cc01875f62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cc01875f62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cc01875f62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cc01875f62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cc01875f62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cc01875f62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cc01875f62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ca728b7977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ca728b7977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cc01875f62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cc01875f62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cc01875f62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cc01875f62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cc01875f62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cc01875f62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bf33c05491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bf33c05491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cc01875f62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cc01875f62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bf33c0549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bf33c0549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cc01875f62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cc01875f62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bf33c05491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bf33c0549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c50902568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c50902568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bf33c05491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bf33c05491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c5ccbc69d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c5ccbc69d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c509025680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c509025680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c5ccbc69d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c5ccbc69d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bf33c05491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bf33c05491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bf33c05491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bf33c05491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bf33c05491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bf33c05491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8.png"/><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hyperlink" Target="https://stanford.edu/~boyd/papers/pdf/network_lasso.pdf" TargetMode="External"/><Relationship Id="rId4" Type="http://schemas.openxmlformats.org/officeDocument/2006/relationships/hyperlink" Target="https://pmc.ncbi.nlm.nih.gov/articles/PMC7228543/"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295925" y="221950"/>
            <a:ext cx="8520000" cy="45777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3600">
                <a:solidFill>
                  <a:schemeClr val="dk1"/>
                </a:solidFill>
              </a:rPr>
              <a:t>Efficient L1 and L2 Fusion Solvers for Grouped Regressio</a:t>
            </a:r>
            <a:r>
              <a:rPr b="1" lang="en" sz="3600">
                <a:solidFill>
                  <a:schemeClr val="dk1"/>
                </a:solidFill>
              </a:rPr>
              <a:t>n Data</a:t>
            </a:r>
            <a:endParaRPr sz="36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nvSpPr>
        <p:spPr>
          <a:xfrm>
            <a:off x="256675" y="878425"/>
            <a:ext cx="8769300" cy="43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t>Problem:</a:t>
            </a:r>
            <a:r>
              <a:rPr lang="en" sz="1800"/>
              <a:t> scalable multi-task/grouped fused regression.</a:t>
            </a:r>
            <a:endParaRPr sz="1800"/>
          </a:p>
          <a:p>
            <a:pPr indent="0" lvl="0" marL="0" rtl="0" algn="l">
              <a:spcBef>
                <a:spcPts val="0"/>
              </a:spcBef>
              <a:spcAft>
                <a:spcPts val="0"/>
              </a:spcAft>
              <a:buNone/>
            </a:pPr>
            <a:r>
              <a:rPr lang="en" sz="1800"/>
              <a:t>When the number of groups(subsets) increase, the runtime and memory of the existing fit method explodes.</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b="1" lang="en" sz="1800"/>
              <a:t>Gap:</a:t>
            </a:r>
            <a:r>
              <a:rPr lang="en" sz="1800"/>
              <a:t> Fused lasso uses a graph structure that takes in consideration the relationship between different groups. </a:t>
            </a:r>
            <a:endParaRPr sz="1800"/>
          </a:p>
          <a:p>
            <a:pPr indent="0" lvl="0" marL="0" rtl="0" algn="l">
              <a:spcBef>
                <a:spcPts val="0"/>
              </a:spcBef>
              <a:spcAft>
                <a:spcPts val="0"/>
              </a:spcAft>
              <a:buNone/>
            </a:pPr>
            <a:r>
              <a:rPr lang="en" sz="1800"/>
              <a:t>Legacy methods use </a:t>
            </a:r>
            <a:r>
              <a:rPr lang="en" sz="1800"/>
              <a:t>full edge regardless of the nature of the graph; </a:t>
            </a:r>
            <a:r>
              <a:rPr lang="en" sz="1800"/>
              <a:t>which are very costly.</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b="1" lang="en" sz="1800">
                <a:solidFill>
                  <a:schemeClr val="dk1"/>
                </a:solidFill>
              </a:rPr>
              <a:t>Padilla et al. 2020</a:t>
            </a:r>
            <a:r>
              <a:rPr lang="en" sz="1800"/>
              <a:t> use knn to build a sparse graph only utilizing a data-driven approach instead of pre-setting the Graph making sure that only groups which are related will be involved in the computation.</a:t>
            </a:r>
            <a:endParaRPr sz="1800"/>
          </a:p>
          <a:p>
            <a:pPr indent="0" lvl="0" marL="0" rtl="0" algn="l">
              <a:spcBef>
                <a:spcPts val="0"/>
              </a:spcBef>
              <a:spcAft>
                <a:spcPts val="0"/>
              </a:spcAft>
              <a:buNone/>
            </a:pPr>
            <a:r>
              <a:rPr lang="en" sz="1800"/>
              <a:t>Whatever</a:t>
            </a:r>
            <a:r>
              <a:rPr lang="en" sz="1800"/>
              <a:t> the case may be, variants that take into consideration the nature of the fusion graph instead of using all the edges may improve runtime/memory.</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p:txBody>
      </p:sp>
      <p:sp>
        <p:nvSpPr>
          <p:cNvPr id="60" name="Google Shape;60;p14"/>
          <p:cNvSpPr txBox="1"/>
          <p:nvPr/>
        </p:nvSpPr>
        <p:spPr>
          <a:xfrm>
            <a:off x="295925" y="221950"/>
            <a:ext cx="8520000" cy="55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2200">
                <a:solidFill>
                  <a:schemeClr val="dk1"/>
                </a:solidFill>
              </a:rPr>
              <a:t>Introduction</a:t>
            </a:r>
            <a:endParaRPr sz="22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nvSpPr>
        <p:spPr>
          <a:xfrm>
            <a:off x="295925" y="833250"/>
            <a:ext cx="8520000" cy="420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We contribute variants of both L1 and L2 methods that take into consideration the nature of the fusion graph to improve runtime and memory efficiency. </a:t>
            </a:r>
            <a:endParaRPr sz="1800">
              <a:solidFill>
                <a:schemeClr val="dk1"/>
              </a:solidFill>
            </a:endParaRPr>
          </a:p>
          <a:p>
            <a:pPr indent="0" lvl="0" marL="0" rtl="0" algn="l">
              <a:spcBef>
                <a:spcPts val="0"/>
              </a:spcBef>
              <a:spcAft>
                <a:spcPts val="0"/>
              </a:spcAft>
              <a:buNone/>
            </a:pPr>
            <a:r>
              <a:rPr lang="en" sz="1800">
                <a:solidFill>
                  <a:schemeClr val="dk1"/>
                </a:solidFill>
              </a:rPr>
              <a:t>It gives the best gains in terms of computational efficiency when graph is sparse.</a:t>
            </a:r>
            <a:br>
              <a:rPr lang="en" sz="1800">
                <a:solidFill>
                  <a:schemeClr val="dk1"/>
                </a:solidFill>
              </a:rPr>
            </a:br>
            <a:br>
              <a:rPr lang="en" sz="1800">
                <a:solidFill>
                  <a:schemeClr val="dk1"/>
                </a:solidFill>
              </a:rPr>
            </a:br>
            <a:r>
              <a:rPr b="1" lang="en" sz="1800">
                <a:solidFill>
                  <a:schemeClr val="dk1"/>
                </a:solidFill>
              </a:rPr>
              <a:t>L1 variants (</a:t>
            </a:r>
            <a:r>
              <a:rPr b="1" i="1" lang="en" sz="1800">
                <a:solidFill>
                  <a:schemeClr val="dk1"/>
                </a:solidFill>
              </a:rPr>
              <a:t>Adaptive Operator</a:t>
            </a:r>
            <a:r>
              <a:rPr b="1" lang="en" sz="1800">
                <a:solidFill>
                  <a:schemeClr val="dk1"/>
                </a:solidFill>
              </a:rPr>
              <a:t>, </a:t>
            </a:r>
            <a:r>
              <a:rPr b="1" i="1" lang="en" sz="1800">
                <a:solidFill>
                  <a:schemeClr val="dk1"/>
                </a:solidFill>
              </a:rPr>
              <a:t>Chain Approx.</a:t>
            </a:r>
            <a:r>
              <a:rPr b="1" lang="en" sz="1800">
                <a:solidFill>
                  <a:schemeClr val="dk1"/>
                </a:solidFill>
              </a:rPr>
              <a:t>):</a:t>
            </a:r>
            <a:endParaRPr b="1" sz="1800">
              <a:solidFill>
                <a:schemeClr val="dk1"/>
              </a:solidFill>
            </a:endParaRPr>
          </a:p>
          <a:p>
            <a:pPr indent="0" lvl="0" marL="0" rtl="0" algn="l">
              <a:spcBef>
                <a:spcPts val="0"/>
              </a:spcBef>
              <a:spcAft>
                <a:spcPts val="0"/>
              </a:spcAft>
              <a:buNone/>
            </a:pPr>
            <a:r>
              <a:rPr lang="en" sz="1800">
                <a:solidFill>
                  <a:schemeClr val="dk1"/>
                </a:solidFill>
              </a:rPr>
              <a:t>We propose two experimental variants.</a:t>
            </a:r>
            <a:br>
              <a:rPr lang="en" sz="1800">
                <a:solidFill>
                  <a:schemeClr val="dk1"/>
                </a:solidFill>
              </a:rPr>
            </a:br>
            <a:r>
              <a:rPr b="1" lang="en" sz="1800">
                <a:solidFill>
                  <a:schemeClr val="dk1"/>
                </a:solidFill>
              </a:rPr>
              <a:t>Adaptive operator</a:t>
            </a:r>
            <a:r>
              <a:rPr lang="en" sz="1800">
                <a:solidFill>
                  <a:schemeClr val="dk1"/>
                </a:solidFill>
              </a:rPr>
              <a:t> uses active edge matrix formulation. </a:t>
            </a:r>
            <a:endParaRPr sz="1800">
              <a:solidFill>
                <a:schemeClr val="dk1"/>
              </a:solidFill>
            </a:endParaRPr>
          </a:p>
          <a:p>
            <a:pPr indent="0" lvl="0" marL="0" rtl="0" algn="l">
              <a:spcBef>
                <a:spcPts val="0"/>
              </a:spcBef>
              <a:spcAft>
                <a:spcPts val="0"/>
              </a:spcAft>
              <a:buNone/>
            </a:pPr>
            <a:r>
              <a:rPr b="1" lang="en" sz="1800">
                <a:solidFill>
                  <a:schemeClr val="dk1"/>
                </a:solidFill>
              </a:rPr>
              <a:t>Chain Approx. </a:t>
            </a:r>
            <a:r>
              <a:rPr lang="en" sz="1800">
                <a:solidFill>
                  <a:schemeClr val="dk1"/>
                </a:solidFill>
              </a:rPr>
              <a:t>uses an approximation technique to build a single chain of Graph using DFS. Despite the nature of the original graph, it reduces the number of edges to (Number of groups - 1) everytime. This does not offer an exact solution but it is a great method to use when you only care about maximum computational efficiency with slightly reduced accuracy.</a:t>
            </a:r>
            <a:br>
              <a:rPr lang="en" sz="1800">
                <a:solidFill>
                  <a:schemeClr val="dk1"/>
                </a:solidFill>
              </a:rPr>
            </a:br>
            <a:endParaRPr sz="1800">
              <a:solidFill>
                <a:schemeClr val="dk1"/>
              </a:solidFill>
            </a:endParaRPr>
          </a:p>
          <a:p>
            <a:pPr indent="0" lvl="0" marL="0" rtl="0" algn="l">
              <a:spcBef>
                <a:spcPts val="0"/>
              </a:spcBef>
              <a:spcAft>
                <a:spcPts val="0"/>
              </a:spcAft>
              <a:buClr>
                <a:schemeClr val="dk1"/>
              </a:buClr>
              <a:buSzPts val="1100"/>
              <a:buFont typeface="Arial"/>
              <a:buNone/>
            </a:pPr>
            <a:r>
              <a:rPr b="1" lang="en" sz="1800">
                <a:solidFill>
                  <a:schemeClr val="dk1"/>
                </a:solidFill>
              </a:rPr>
              <a:t>L2 active-edge construction </a:t>
            </a:r>
            <a:br>
              <a:rPr lang="en" sz="1800">
                <a:solidFill>
                  <a:schemeClr val="dk1"/>
                </a:solidFill>
              </a:rPr>
            </a:br>
            <a:r>
              <a:rPr lang="en" sz="1800">
                <a:solidFill>
                  <a:schemeClr val="dk1"/>
                </a:solidFill>
              </a:rPr>
              <a:t>Extensive open-source real data benchmarking.</a:t>
            </a:r>
            <a:endParaRPr>
              <a:solidFill>
                <a:schemeClr val="dk1"/>
              </a:solidFill>
            </a:endParaRPr>
          </a:p>
          <a:p>
            <a:pPr indent="0" lvl="0" marL="0" rtl="0" algn="l">
              <a:spcBef>
                <a:spcPts val="0"/>
              </a:spcBef>
              <a:spcAft>
                <a:spcPts val="0"/>
              </a:spcAft>
              <a:buNone/>
            </a:pPr>
            <a:r>
              <a:t/>
            </a:r>
            <a:endParaRPr b="1" sz="1800"/>
          </a:p>
        </p:txBody>
      </p:sp>
      <p:sp>
        <p:nvSpPr>
          <p:cNvPr id="66" name="Google Shape;66;p15"/>
          <p:cNvSpPr txBox="1"/>
          <p:nvPr/>
        </p:nvSpPr>
        <p:spPr>
          <a:xfrm>
            <a:off x="295925" y="221950"/>
            <a:ext cx="8520000" cy="55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800">
                <a:solidFill>
                  <a:schemeClr val="dk1"/>
                </a:solidFill>
              </a:rPr>
              <a:t>Contributions</a:t>
            </a:r>
            <a:endParaRPr sz="22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nvSpPr>
        <p:spPr>
          <a:xfrm>
            <a:off x="224925" y="887250"/>
            <a:ext cx="8520000" cy="431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1. </a:t>
            </a:r>
            <a:r>
              <a:rPr b="1" lang="en" sz="1800">
                <a:solidFill>
                  <a:schemeClr val="dk1"/>
                </a:solidFill>
              </a:rPr>
              <a:t>Sparsity and smoothness via the fused lasso, Robert Tibshirani et al. 2005</a:t>
            </a:r>
            <a:endParaRPr b="1" sz="1800">
              <a:solidFill>
                <a:schemeClr val="dk1"/>
              </a:solidFill>
            </a:endParaRPr>
          </a:p>
          <a:p>
            <a:pPr indent="0" lvl="0" marL="0" rtl="0" algn="l">
              <a:spcBef>
                <a:spcPts val="0"/>
              </a:spcBef>
              <a:spcAft>
                <a:spcPts val="0"/>
              </a:spcAft>
              <a:buNone/>
            </a:pPr>
            <a:br>
              <a:rPr lang="en" sz="1800">
                <a:solidFill>
                  <a:schemeClr val="dk1"/>
                </a:solidFill>
              </a:rPr>
            </a:br>
            <a:r>
              <a:rPr lang="en" sz="1800">
                <a:solidFill>
                  <a:schemeClr val="dk1"/>
                </a:solidFill>
              </a:rPr>
              <a:t>LASSO was originally proposed by Robert Tibshirani in 1996. Fused lasso is an extension of Lasso which is used for grouped/ordered data. It has both sparsity and smoothness/fusion penalty. He also proposed hinge loss for </a:t>
            </a:r>
            <a:r>
              <a:rPr lang="en" sz="1800">
                <a:solidFill>
                  <a:schemeClr val="dk1"/>
                </a:solidFill>
              </a:rPr>
              <a:t>fussed lasso </a:t>
            </a:r>
            <a:r>
              <a:rPr lang="en" sz="1800">
                <a:solidFill>
                  <a:schemeClr val="dk1"/>
                </a:solidFill>
              </a:rPr>
              <a:t>SVC for classification tasks.</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b="1" lang="en" sz="1800">
                <a:solidFill>
                  <a:schemeClr val="dk1"/>
                </a:solidFill>
              </a:rPr>
              <a:t>Difference: </a:t>
            </a:r>
            <a:r>
              <a:rPr lang="en" sz="1800">
                <a:solidFill>
                  <a:schemeClr val="dk1"/>
                </a:solidFill>
              </a:rPr>
              <a:t>This literature proposes the fused lasso. We build on top of it to solve the fused lasso problem by introducing variants to take advantage of the graph structure for optimization and efficiency gains.</a:t>
            </a:r>
            <a:br>
              <a:rPr lang="en" sz="1800">
                <a:solidFill>
                  <a:schemeClr val="dk1"/>
                </a:solidFill>
              </a:rPr>
            </a:br>
            <a:br>
              <a:rPr lang="en" sz="1800">
                <a:solidFill>
                  <a:schemeClr val="dk1"/>
                </a:solidFill>
              </a:rPr>
            </a:br>
            <a:endParaRPr sz="1800">
              <a:solidFill>
                <a:schemeClr val="dk1"/>
              </a:solidFill>
            </a:endParaRPr>
          </a:p>
        </p:txBody>
      </p:sp>
      <p:sp>
        <p:nvSpPr>
          <p:cNvPr id="72" name="Google Shape;72;p16"/>
          <p:cNvSpPr txBox="1"/>
          <p:nvPr/>
        </p:nvSpPr>
        <p:spPr>
          <a:xfrm>
            <a:off x="312000" y="221950"/>
            <a:ext cx="8520000" cy="55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Related Work</a:t>
            </a:r>
            <a:endParaRPr sz="22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nvSpPr>
        <p:spPr>
          <a:xfrm>
            <a:off x="224925" y="887250"/>
            <a:ext cx="8520000" cy="431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2. </a:t>
            </a:r>
            <a:r>
              <a:rPr b="1" lang="en" sz="1800">
                <a:solidFill>
                  <a:schemeClr val="dk1"/>
                </a:solidFill>
              </a:rPr>
              <a:t>A path algorithm for the Fused Lasso Signal Approximator </a:t>
            </a:r>
            <a:r>
              <a:rPr b="1" lang="en" sz="1800">
                <a:solidFill>
                  <a:schemeClr val="dk1"/>
                </a:solidFill>
              </a:rPr>
              <a:t>(2009 </a:t>
            </a:r>
            <a:r>
              <a:rPr b="1" lang="en" sz="1800">
                <a:solidFill>
                  <a:schemeClr val="dk1"/>
                </a:solidFill>
              </a:rPr>
              <a:t>Holger Hoefling</a:t>
            </a:r>
            <a:r>
              <a:rPr b="1" lang="en" sz="1800">
                <a:solidFill>
                  <a:schemeClr val="dk1"/>
                </a:solidFill>
              </a:rPr>
              <a:t>)</a:t>
            </a:r>
            <a:endParaRPr b="1" sz="1800">
              <a:solidFill>
                <a:schemeClr val="dk1"/>
              </a:solidFill>
            </a:endParaRPr>
          </a:p>
          <a:p>
            <a:pPr indent="0" lvl="0" marL="0" rtl="0" algn="l">
              <a:spcBef>
                <a:spcPts val="0"/>
              </a:spcBef>
              <a:spcAft>
                <a:spcPts val="0"/>
              </a:spcAft>
              <a:buNone/>
            </a:pPr>
            <a:br>
              <a:rPr lang="en" sz="1800">
                <a:solidFill>
                  <a:schemeClr val="dk1"/>
                </a:solidFill>
              </a:rPr>
            </a:br>
            <a:r>
              <a:rPr lang="en" sz="1800">
                <a:solidFill>
                  <a:schemeClr val="dk1"/>
                </a:solidFill>
              </a:rPr>
              <a:t>This literature solves a specific fused lasso problem related to signal approximation. </a:t>
            </a:r>
            <a:endParaRPr sz="1800">
              <a:solidFill>
                <a:schemeClr val="dk1"/>
              </a:solidFill>
            </a:endParaRPr>
          </a:p>
          <a:p>
            <a:pPr indent="0" lvl="0" marL="0" rtl="0" algn="l">
              <a:spcBef>
                <a:spcPts val="0"/>
              </a:spcBef>
              <a:spcAft>
                <a:spcPts val="0"/>
              </a:spcAft>
              <a:buNone/>
            </a:pPr>
            <a:r>
              <a:rPr lang="en" sz="1800">
                <a:solidFill>
                  <a:schemeClr val="dk1"/>
                </a:solidFill>
              </a:rPr>
              <a:t>Standard regression, we use a matrix of input features (X) to predict an output (Y).</a:t>
            </a:r>
            <a:endParaRPr sz="1800">
              <a:solidFill>
                <a:schemeClr val="dk1"/>
              </a:solidFill>
            </a:endParaRPr>
          </a:p>
          <a:p>
            <a:pPr indent="0" lvl="0" marL="0" rtl="0" algn="l">
              <a:spcBef>
                <a:spcPts val="0"/>
              </a:spcBef>
              <a:spcAft>
                <a:spcPts val="0"/>
              </a:spcAft>
              <a:buNone/>
            </a:pPr>
            <a:r>
              <a:rPr lang="en" sz="1800">
                <a:solidFill>
                  <a:schemeClr val="dk1"/>
                </a:solidFill>
              </a:rPr>
              <a:t>In FLSA, the predictor matrix is the identity matrix (X = I). This implies that the algorithm is directly smoothing and denoising a single ordered sequence of noisy data points (Y) instead of finding weights for different independent variables.</a:t>
            </a:r>
            <a:endParaRPr sz="1800">
              <a:solidFill>
                <a:schemeClr val="dk1"/>
              </a:solidFill>
            </a:endParaRPr>
          </a:p>
          <a:p>
            <a:pPr indent="0" lvl="0" marL="0" rtl="0" algn="l">
              <a:spcBef>
                <a:spcPts val="0"/>
              </a:spcBef>
              <a:spcAft>
                <a:spcPts val="0"/>
              </a:spcAft>
              <a:buNone/>
            </a:pPr>
            <a:r>
              <a:rPr lang="en" sz="1800">
                <a:solidFill>
                  <a:schemeClr val="dk1"/>
                </a:solidFill>
              </a:rPr>
              <a:t>The paper develops a highly efficient path algorithm for </a:t>
            </a:r>
            <a:r>
              <a:rPr lang="en" sz="1800">
                <a:solidFill>
                  <a:schemeClr val="dk1"/>
                </a:solidFill>
              </a:rPr>
              <a:t>the FLSA which computes exact solutions for all possible values of lambda and gamma simultaneously.</a:t>
            </a:r>
            <a:endParaRPr sz="1800">
              <a:solidFill>
                <a:schemeClr val="dk1"/>
              </a:solidFill>
            </a:endParaRPr>
          </a:p>
          <a:p>
            <a:pPr indent="0" lvl="0" marL="0" rtl="0" algn="l">
              <a:spcBef>
                <a:spcPts val="0"/>
              </a:spcBef>
              <a:spcAft>
                <a:spcPts val="0"/>
              </a:spcAft>
              <a:buNone/>
            </a:pPr>
            <a:br>
              <a:rPr lang="en" sz="1800">
                <a:solidFill>
                  <a:schemeClr val="dk1"/>
                </a:solidFill>
              </a:rPr>
            </a:br>
            <a:r>
              <a:rPr b="1" lang="en" sz="1800">
                <a:solidFill>
                  <a:schemeClr val="dk1"/>
                </a:solidFill>
              </a:rPr>
              <a:t>Difference: </a:t>
            </a:r>
            <a:r>
              <a:rPr lang="en" sz="1800">
                <a:solidFill>
                  <a:schemeClr val="dk1"/>
                </a:solidFill>
              </a:rPr>
              <a:t>We focus primarily on general grouped regression problem where we have a matrix of independent features X used to predict a distinct outcome Y but this literature is a special case for this where X = I.</a:t>
            </a:r>
            <a:br>
              <a:rPr lang="en" sz="1800">
                <a:solidFill>
                  <a:schemeClr val="dk1"/>
                </a:solidFill>
              </a:rPr>
            </a:br>
            <a:endParaRPr sz="1800">
              <a:solidFill>
                <a:schemeClr val="dk1"/>
              </a:solidFill>
            </a:endParaRPr>
          </a:p>
        </p:txBody>
      </p:sp>
      <p:sp>
        <p:nvSpPr>
          <p:cNvPr id="78" name="Google Shape;78;p17"/>
          <p:cNvSpPr txBox="1"/>
          <p:nvPr/>
        </p:nvSpPr>
        <p:spPr>
          <a:xfrm>
            <a:off x="312000" y="221950"/>
            <a:ext cx="8520000" cy="55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Related Work</a:t>
            </a:r>
            <a:endParaRPr sz="22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8"/>
          <p:cNvSpPr txBox="1"/>
          <p:nvPr/>
        </p:nvSpPr>
        <p:spPr>
          <a:xfrm>
            <a:off x="224925" y="887250"/>
            <a:ext cx="8520000" cy="431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3</a:t>
            </a:r>
            <a:r>
              <a:rPr b="1" lang="en" sz="1800">
                <a:solidFill>
                  <a:schemeClr val="dk1"/>
                </a:solidFill>
              </a:rPr>
              <a:t>. </a:t>
            </a:r>
            <a:r>
              <a:rPr b="1" lang="en" sz="1800">
                <a:solidFill>
                  <a:schemeClr val="dk1"/>
                </a:solidFill>
              </a:rPr>
              <a:t>Graph-Structured Multi-task Regression and an Efficient Optimization Method for General Fused Lasso</a:t>
            </a:r>
            <a:r>
              <a:rPr b="1" lang="en" sz="1800">
                <a:solidFill>
                  <a:schemeClr val="dk1"/>
                </a:solidFill>
              </a:rPr>
              <a:t> (2010 by Chen et. al)</a:t>
            </a:r>
            <a:endParaRPr b="1" sz="1800">
              <a:solidFill>
                <a:schemeClr val="dk1"/>
              </a:solidFill>
            </a:endParaRPr>
          </a:p>
          <a:p>
            <a:pPr indent="0" lvl="0" marL="0" rtl="0" algn="l">
              <a:spcBef>
                <a:spcPts val="0"/>
              </a:spcBef>
              <a:spcAft>
                <a:spcPts val="0"/>
              </a:spcAft>
              <a:buNone/>
            </a:pPr>
            <a:br>
              <a:rPr lang="en" sz="1800">
                <a:solidFill>
                  <a:schemeClr val="dk1"/>
                </a:solidFill>
              </a:rPr>
            </a:br>
            <a:r>
              <a:rPr lang="en" sz="1800">
                <a:solidFill>
                  <a:schemeClr val="dk1"/>
                </a:solidFill>
              </a:rPr>
              <a:t>The paper solves a joint multiple output regression problem. Implying that every task represents predicting a different continuous output variable based on a common set of high-dimensional inputs.</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n" sz="1800">
                <a:solidFill>
                  <a:schemeClr val="dk1"/>
                </a:solidFill>
              </a:rPr>
              <a:t>It assumes that the relationships between the </a:t>
            </a:r>
            <a:r>
              <a:rPr lang="en" sz="1800">
                <a:solidFill>
                  <a:schemeClr val="dk1"/>
                </a:solidFill>
              </a:rPr>
              <a:t>multiple</a:t>
            </a:r>
            <a:r>
              <a:rPr lang="en" sz="1800">
                <a:solidFill>
                  <a:schemeClr val="dk1"/>
                </a:solidFill>
              </a:rPr>
              <a:t> output variables are correlated with one another in a complex way, hence can be represented </a:t>
            </a:r>
            <a:r>
              <a:rPr lang="en" sz="1800">
                <a:solidFill>
                  <a:schemeClr val="dk1"/>
                </a:solidFill>
              </a:rPr>
              <a:t>using an output graph with fused penalties. It proposes proximal-gradient optimization.</a:t>
            </a:r>
            <a:br>
              <a:rPr lang="en" sz="1800">
                <a:solidFill>
                  <a:schemeClr val="dk1"/>
                </a:solidFill>
              </a:rPr>
            </a:br>
            <a:br>
              <a:rPr lang="en" sz="1800">
                <a:solidFill>
                  <a:schemeClr val="dk1"/>
                </a:solidFill>
              </a:rPr>
            </a:br>
            <a:r>
              <a:rPr b="1" lang="en" sz="1800">
                <a:solidFill>
                  <a:schemeClr val="dk1"/>
                </a:solidFill>
              </a:rPr>
              <a:t>Difference: </a:t>
            </a:r>
            <a:r>
              <a:rPr lang="en" sz="1800">
                <a:solidFill>
                  <a:schemeClr val="dk1"/>
                </a:solidFill>
              </a:rPr>
              <a:t>This literature deals with several distinct but interconnected output variables, we use only consider a single regression output divided into different groups.</a:t>
            </a:r>
            <a:br>
              <a:rPr lang="en" sz="1800">
                <a:solidFill>
                  <a:schemeClr val="dk1"/>
                </a:solidFill>
              </a:rPr>
            </a:br>
            <a:br>
              <a:rPr lang="en" sz="1800">
                <a:solidFill>
                  <a:schemeClr val="dk1"/>
                </a:solidFill>
              </a:rPr>
            </a:br>
            <a:endParaRPr sz="1800">
              <a:solidFill>
                <a:schemeClr val="dk1"/>
              </a:solidFill>
            </a:endParaRPr>
          </a:p>
        </p:txBody>
      </p:sp>
      <p:sp>
        <p:nvSpPr>
          <p:cNvPr id="84" name="Google Shape;84;p18"/>
          <p:cNvSpPr txBox="1"/>
          <p:nvPr/>
        </p:nvSpPr>
        <p:spPr>
          <a:xfrm>
            <a:off x="312000" y="221950"/>
            <a:ext cx="8520000" cy="55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Related Work</a:t>
            </a:r>
            <a:endParaRPr sz="22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9"/>
          <p:cNvSpPr txBox="1"/>
          <p:nvPr/>
        </p:nvSpPr>
        <p:spPr>
          <a:xfrm>
            <a:off x="224925" y="887250"/>
            <a:ext cx="8520000" cy="431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4</a:t>
            </a:r>
            <a:r>
              <a:rPr b="1" lang="en" sz="1800">
                <a:solidFill>
                  <a:schemeClr val="dk1"/>
                </a:solidFill>
              </a:rPr>
              <a:t>. </a:t>
            </a:r>
            <a:r>
              <a:rPr b="1" lang="en" sz="1800">
                <a:solidFill>
                  <a:schemeClr val="dk1"/>
                </a:solidFill>
              </a:rPr>
              <a:t>A Two-Graph Guided Multi-task Lasso Approach for eQTL Mapping</a:t>
            </a:r>
            <a:r>
              <a:rPr b="1" lang="en" sz="1800">
                <a:solidFill>
                  <a:schemeClr val="dk1"/>
                </a:solidFill>
              </a:rPr>
              <a:t> (2012 by Chen et. al)</a:t>
            </a:r>
            <a:endParaRPr b="1" sz="1800">
              <a:solidFill>
                <a:schemeClr val="dk1"/>
              </a:solidFill>
            </a:endParaRPr>
          </a:p>
          <a:p>
            <a:pPr indent="0" lvl="0" marL="0" rtl="0" algn="l">
              <a:spcBef>
                <a:spcPts val="0"/>
              </a:spcBef>
              <a:spcAft>
                <a:spcPts val="0"/>
              </a:spcAft>
              <a:buNone/>
            </a:pPr>
            <a:br>
              <a:rPr lang="en" sz="1800">
                <a:solidFill>
                  <a:schemeClr val="dk1"/>
                </a:solidFill>
              </a:rPr>
            </a:br>
            <a:r>
              <a:rPr lang="en" sz="1800">
                <a:solidFill>
                  <a:schemeClr val="dk1"/>
                </a:solidFill>
              </a:rPr>
              <a:t>Expression quantitative trait loci (eQTL) mapping is the process of statistically finding significant associations between genetic variants and gene expression traits. Traditionally, researchers used pairwise correlation, testing one genetic variant against one gene at a time but this leads to spurious associations.</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n" sz="1800">
                <a:solidFill>
                  <a:schemeClr val="dk1"/>
                </a:solidFill>
              </a:rPr>
              <a:t>Proposes a two-graph multi-task fused lasso approach where one graph represents </a:t>
            </a:r>
            <a:r>
              <a:rPr b="1" lang="en" sz="1800">
                <a:solidFill>
                  <a:schemeClr val="dk1"/>
                </a:solidFill>
              </a:rPr>
              <a:t>feature domain</a:t>
            </a:r>
            <a:r>
              <a:rPr lang="en" sz="1800">
                <a:solidFill>
                  <a:schemeClr val="dk1"/>
                </a:solidFill>
              </a:rPr>
              <a:t> and the other represents l</a:t>
            </a:r>
            <a:r>
              <a:rPr b="1" lang="en" sz="1800">
                <a:solidFill>
                  <a:schemeClr val="dk1"/>
                </a:solidFill>
              </a:rPr>
              <a:t>abel domain</a:t>
            </a:r>
            <a:r>
              <a:rPr lang="en" sz="1800">
                <a:solidFill>
                  <a:schemeClr val="dk1"/>
                </a:solidFill>
              </a:rPr>
              <a:t>. This is all baked into a unified model.</a:t>
            </a:r>
            <a:br>
              <a:rPr lang="en" sz="1800">
                <a:solidFill>
                  <a:schemeClr val="dk1"/>
                </a:solidFill>
              </a:rPr>
            </a:br>
            <a:br>
              <a:rPr lang="en" sz="1800">
                <a:solidFill>
                  <a:schemeClr val="dk1"/>
                </a:solidFill>
              </a:rPr>
            </a:br>
            <a:r>
              <a:rPr b="1" lang="en" sz="1800">
                <a:solidFill>
                  <a:schemeClr val="dk1"/>
                </a:solidFill>
              </a:rPr>
              <a:t>Difference: </a:t>
            </a:r>
            <a:r>
              <a:rPr lang="en" sz="1800">
                <a:solidFill>
                  <a:schemeClr val="dk1"/>
                </a:solidFill>
              </a:rPr>
              <a:t>This paper improvises two graph approach specifically for multi-task problems like eQTL mapping, our work exploits a single graph structure (for single task) for efficiency gains.</a:t>
            </a:r>
            <a:br>
              <a:rPr lang="en" sz="1800">
                <a:solidFill>
                  <a:schemeClr val="dk1"/>
                </a:solidFill>
              </a:rPr>
            </a:br>
            <a:endParaRPr sz="1800">
              <a:solidFill>
                <a:schemeClr val="dk1"/>
              </a:solidFill>
            </a:endParaRPr>
          </a:p>
        </p:txBody>
      </p:sp>
      <p:sp>
        <p:nvSpPr>
          <p:cNvPr id="90" name="Google Shape;90;p19"/>
          <p:cNvSpPr txBox="1"/>
          <p:nvPr/>
        </p:nvSpPr>
        <p:spPr>
          <a:xfrm>
            <a:off x="312000" y="221950"/>
            <a:ext cx="8520000" cy="55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Related Work</a:t>
            </a:r>
            <a:endParaRPr sz="22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0"/>
          <p:cNvSpPr txBox="1"/>
          <p:nvPr/>
        </p:nvSpPr>
        <p:spPr>
          <a:xfrm>
            <a:off x="224925" y="887250"/>
            <a:ext cx="8520000" cy="431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5</a:t>
            </a:r>
            <a:r>
              <a:rPr b="1" lang="en" sz="1800">
                <a:solidFill>
                  <a:schemeClr val="dk1"/>
                </a:solidFill>
              </a:rPr>
              <a:t>. </a:t>
            </a:r>
            <a:r>
              <a:rPr b="1" lang="en" sz="1800">
                <a:solidFill>
                  <a:schemeClr val="dk1"/>
                </a:solidFill>
              </a:rPr>
              <a:t>Fused Lasso Additive Model, FLAM</a:t>
            </a:r>
            <a:r>
              <a:rPr b="1" lang="en" sz="1800">
                <a:solidFill>
                  <a:schemeClr val="dk1"/>
                </a:solidFill>
              </a:rPr>
              <a:t> (Petersen et. al, 2014)</a:t>
            </a:r>
            <a:endParaRPr b="1" sz="1800">
              <a:solidFill>
                <a:schemeClr val="dk1"/>
              </a:solidFill>
            </a:endParaRPr>
          </a:p>
          <a:p>
            <a:pPr indent="0" lvl="0" marL="0" rtl="0" algn="l">
              <a:spcBef>
                <a:spcPts val="0"/>
              </a:spcBef>
              <a:spcAft>
                <a:spcPts val="0"/>
              </a:spcAft>
              <a:buNone/>
            </a:pPr>
            <a:br>
              <a:rPr lang="en" sz="1800">
                <a:solidFill>
                  <a:schemeClr val="dk1"/>
                </a:solidFill>
              </a:rPr>
            </a:br>
            <a:r>
              <a:rPr lang="en" sz="1800">
                <a:solidFill>
                  <a:schemeClr val="dk1"/>
                </a:solidFill>
              </a:rPr>
              <a:t>Proposes FLAM as an additive model where the contribution of each individual feature is estimated to be a piecewise constant function. It implements adaptively chooses knots to decide where the step function jumps up or down. It also implements sparsity based on LASSO principles.</a:t>
            </a:r>
            <a:endParaRPr sz="1800">
              <a:solidFill>
                <a:schemeClr val="dk1"/>
              </a:solidFill>
            </a:endParaRPr>
          </a:p>
          <a:p>
            <a:pPr indent="0" lvl="0" marL="0" rtl="0" algn="l">
              <a:spcBef>
                <a:spcPts val="0"/>
              </a:spcBef>
              <a:spcAft>
                <a:spcPts val="0"/>
              </a:spcAft>
              <a:buNone/>
            </a:pPr>
            <a:br>
              <a:rPr lang="en" sz="1800">
                <a:solidFill>
                  <a:schemeClr val="dk1"/>
                </a:solidFill>
              </a:rPr>
            </a:br>
            <a:br>
              <a:rPr lang="en" sz="1800">
                <a:solidFill>
                  <a:schemeClr val="dk1"/>
                </a:solidFill>
              </a:rPr>
            </a:br>
            <a:r>
              <a:rPr b="1" lang="en" sz="1800">
                <a:solidFill>
                  <a:schemeClr val="dk1"/>
                </a:solidFill>
              </a:rPr>
              <a:t>Difference: </a:t>
            </a:r>
            <a:r>
              <a:rPr lang="en" sz="1800">
                <a:solidFill>
                  <a:schemeClr val="dk1"/>
                </a:solidFill>
              </a:rPr>
              <a:t>This paper builds a non-linear function because it creates a series of steps for individual features, our adaption is based on the original fused model which is a linear regression model. This work doesnt exploit the graph structure of the data. It creates its own 1D sequence by sorting feature data and applying fusion penalty along that line to build step-function.</a:t>
            </a:r>
            <a:br>
              <a:rPr lang="en" sz="1800">
                <a:solidFill>
                  <a:schemeClr val="dk1"/>
                </a:solidFill>
              </a:rPr>
            </a:br>
            <a:endParaRPr sz="1800">
              <a:solidFill>
                <a:schemeClr val="dk1"/>
              </a:solidFill>
            </a:endParaRPr>
          </a:p>
        </p:txBody>
      </p:sp>
      <p:sp>
        <p:nvSpPr>
          <p:cNvPr id="96" name="Google Shape;96;p20"/>
          <p:cNvSpPr txBox="1"/>
          <p:nvPr/>
        </p:nvSpPr>
        <p:spPr>
          <a:xfrm>
            <a:off x="312000" y="221950"/>
            <a:ext cx="8520000" cy="55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Related Work</a:t>
            </a:r>
            <a:endParaRPr sz="22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1"/>
          <p:cNvSpPr txBox="1"/>
          <p:nvPr/>
        </p:nvSpPr>
        <p:spPr>
          <a:xfrm>
            <a:off x="224925" y="887250"/>
            <a:ext cx="8520000" cy="431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6</a:t>
            </a:r>
            <a:r>
              <a:rPr b="1" lang="en" sz="1800">
                <a:solidFill>
                  <a:schemeClr val="dk1"/>
                </a:solidFill>
              </a:rPr>
              <a:t>. </a:t>
            </a:r>
            <a:r>
              <a:rPr b="1" lang="en" sz="2300">
                <a:solidFill>
                  <a:srgbClr val="222222"/>
                </a:solidFill>
                <a:highlight>
                  <a:srgbClr val="FFFFFF"/>
                </a:highlight>
                <a:latin typeface="Roboto"/>
                <a:ea typeface="Roboto"/>
                <a:cs typeface="Roboto"/>
                <a:sym typeface="Roboto"/>
              </a:rPr>
              <a:t>Gene regulatory network inference using fused LASSO on multiple data sets (Omranian et al., 2016)</a:t>
            </a:r>
            <a:endParaRPr b="1" sz="2300">
              <a:solidFill>
                <a:srgbClr val="222222"/>
              </a:solidFill>
              <a:highlight>
                <a:srgbClr val="FFFFFF"/>
              </a:highlight>
              <a:latin typeface="Roboto"/>
              <a:ea typeface="Roboto"/>
              <a:cs typeface="Roboto"/>
              <a:sym typeface="Roboto"/>
            </a:endParaRPr>
          </a:p>
          <a:p>
            <a:pPr indent="0" lvl="0" marL="0" rtl="0" algn="l">
              <a:spcBef>
                <a:spcPts val="0"/>
              </a:spcBef>
              <a:spcAft>
                <a:spcPts val="0"/>
              </a:spcAft>
              <a:buNone/>
            </a:pPr>
            <a:r>
              <a:t/>
            </a:r>
            <a:endParaRPr b="1" sz="1800">
              <a:solidFill>
                <a:schemeClr val="dk1"/>
              </a:solidFill>
            </a:endParaRPr>
          </a:p>
          <a:p>
            <a:pPr indent="0" lvl="0" marL="0" rtl="0" algn="l">
              <a:spcBef>
                <a:spcPts val="0"/>
              </a:spcBef>
              <a:spcAft>
                <a:spcPts val="0"/>
              </a:spcAft>
              <a:buNone/>
            </a:pPr>
            <a:r>
              <a:rPr lang="en" sz="1800">
                <a:solidFill>
                  <a:schemeClr val="dk1"/>
                </a:solidFill>
              </a:rPr>
              <a:t>The paper constructs Gene regulatory network using fused lasso with multiple real data sets. They use a standard benchmark dataset to compare the reconstructed network. Then they present the AUROC, AUPR</a:t>
            </a:r>
            <a:br>
              <a:rPr lang="en" sz="1800">
                <a:solidFill>
                  <a:schemeClr val="dk1"/>
                </a:solidFill>
              </a:rPr>
            </a:br>
            <a:br>
              <a:rPr lang="en" sz="1800">
                <a:solidFill>
                  <a:schemeClr val="dk1"/>
                </a:solidFill>
              </a:rPr>
            </a:br>
            <a:r>
              <a:rPr b="1" lang="en" sz="1800">
                <a:solidFill>
                  <a:schemeClr val="dk1"/>
                </a:solidFill>
              </a:rPr>
              <a:t>Difference: </a:t>
            </a:r>
            <a:r>
              <a:rPr lang="en" sz="1800">
                <a:solidFill>
                  <a:schemeClr val="dk1"/>
                </a:solidFill>
              </a:rPr>
              <a:t>This paper uses the original fussed lasso on multiple datasets as groups. This work doesnt exploit the graph structure of the data.</a:t>
            </a:r>
            <a:br>
              <a:rPr lang="en" sz="1800">
                <a:solidFill>
                  <a:schemeClr val="dk1"/>
                </a:solidFill>
              </a:rPr>
            </a:br>
            <a:endParaRPr sz="1800">
              <a:solidFill>
                <a:schemeClr val="dk1"/>
              </a:solidFill>
            </a:endParaRPr>
          </a:p>
        </p:txBody>
      </p:sp>
      <p:sp>
        <p:nvSpPr>
          <p:cNvPr id="102" name="Google Shape;102;p21"/>
          <p:cNvSpPr txBox="1"/>
          <p:nvPr/>
        </p:nvSpPr>
        <p:spPr>
          <a:xfrm>
            <a:off x="312000" y="221950"/>
            <a:ext cx="8520000" cy="55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Related Work</a:t>
            </a:r>
            <a:endParaRPr sz="22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2"/>
          <p:cNvSpPr txBox="1"/>
          <p:nvPr/>
        </p:nvSpPr>
        <p:spPr>
          <a:xfrm>
            <a:off x="224925" y="887250"/>
            <a:ext cx="8520000" cy="431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7</a:t>
            </a:r>
            <a:r>
              <a:rPr b="1" lang="en" sz="1800">
                <a:solidFill>
                  <a:schemeClr val="dk1"/>
                </a:solidFill>
              </a:rPr>
              <a:t>. </a:t>
            </a:r>
            <a:r>
              <a:rPr b="1" lang="en" sz="2300">
                <a:solidFill>
                  <a:srgbClr val="222222"/>
                </a:solidFill>
                <a:highlight>
                  <a:srgbClr val="FFFFFF"/>
                </a:highlight>
                <a:latin typeface="Roboto"/>
                <a:ea typeface="Roboto"/>
                <a:cs typeface="Roboto"/>
                <a:sym typeface="Roboto"/>
              </a:rPr>
              <a:t>The DFS Fused Lasso: Linear-Time Denoising over General Graphs by Hernan et. al 2018</a:t>
            </a:r>
            <a:endParaRPr b="1" sz="2300">
              <a:solidFill>
                <a:srgbClr val="222222"/>
              </a:solidFill>
              <a:highlight>
                <a:srgbClr val="FFFFFF"/>
              </a:highlight>
              <a:latin typeface="Roboto"/>
              <a:ea typeface="Roboto"/>
              <a:cs typeface="Roboto"/>
              <a:sym typeface="Roboto"/>
            </a:endParaRPr>
          </a:p>
          <a:p>
            <a:pPr indent="0" lvl="0" marL="0" rtl="0" algn="l">
              <a:spcBef>
                <a:spcPts val="0"/>
              </a:spcBef>
              <a:spcAft>
                <a:spcPts val="0"/>
              </a:spcAft>
              <a:buNone/>
            </a:pPr>
            <a:r>
              <a:t/>
            </a:r>
            <a:endParaRPr b="1" sz="1800">
              <a:solidFill>
                <a:schemeClr val="dk1"/>
              </a:solidFill>
            </a:endParaRPr>
          </a:p>
          <a:p>
            <a:pPr indent="0" lvl="0" marL="0" rtl="0" algn="l">
              <a:spcBef>
                <a:spcPts val="0"/>
              </a:spcBef>
              <a:spcAft>
                <a:spcPts val="0"/>
              </a:spcAft>
              <a:buNone/>
            </a:pPr>
            <a:r>
              <a:rPr lang="en" sz="1800">
                <a:solidFill>
                  <a:schemeClr val="dk1"/>
                </a:solidFill>
              </a:rPr>
              <a:t>Constructs a 1D chain sequence using DFS backtracking from a 3D graph purely for signal denoising so that problem can be formulated as a fused lasso problem. This gives it a computational efficiency (i</a:t>
            </a:r>
            <a:r>
              <a:rPr lang="en" sz="1800">
                <a:solidFill>
                  <a:schemeClr val="dk1"/>
                </a:solidFill>
              </a:rPr>
              <a:t>t is still far slower to solve the fused lasso over an arbitrary graph than it is to solve the fused lasso over a chain)</a:t>
            </a:r>
            <a:r>
              <a:rPr lang="en" sz="1800">
                <a:solidFill>
                  <a:schemeClr val="dk1"/>
                </a:solidFill>
              </a:rPr>
              <a:t>. We used this idea to formulate our </a:t>
            </a:r>
            <a:r>
              <a:rPr b="1" lang="en" sz="1800">
                <a:solidFill>
                  <a:schemeClr val="dk1"/>
                </a:solidFill>
              </a:rPr>
              <a:t>Approx. Chain</a:t>
            </a:r>
            <a:r>
              <a:rPr lang="en" sz="1800">
                <a:solidFill>
                  <a:schemeClr val="dk1"/>
                </a:solidFill>
              </a:rPr>
              <a:t> method.</a:t>
            </a:r>
            <a:endParaRPr sz="1800">
              <a:solidFill>
                <a:schemeClr val="dk1"/>
              </a:solidFill>
            </a:endParaRPr>
          </a:p>
          <a:p>
            <a:pPr indent="0" lvl="0" marL="0" rtl="0" algn="l">
              <a:spcBef>
                <a:spcPts val="0"/>
              </a:spcBef>
              <a:spcAft>
                <a:spcPts val="0"/>
              </a:spcAft>
              <a:buNone/>
            </a:pPr>
            <a:br>
              <a:rPr lang="en" sz="1800">
                <a:solidFill>
                  <a:schemeClr val="dk1"/>
                </a:solidFill>
              </a:rPr>
            </a:br>
            <a:r>
              <a:rPr b="1" lang="en" sz="1800">
                <a:solidFill>
                  <a:schemeClr val="dk1"/>
                </a:solidFill>
              </a:rPr>
              <a:t>Difference: </a:t>
            </a:r>
            <a:r>
              <a:rPr lang="en" sz="1800">
                <a:solidFill>
                  <a:schemeClr val="dk1"/>
                </a:solidFill>
              </a:rPr>
              <a:t>Regular fused lasso predicts an outcome based on the weights of features, this paper reconstructs y labels thereby denoising it. Regular fused lasso uses two hyper-params (lambda and gamma), this one only uses gamma.</a:t>
            </a:r>
            <a:br>
              <a:rPr lang="en" sz="1800">
                <a:solidFill>
                  <a:schemeClr val="dk1"/>
                </a:solidFill>
              </a:rPr>
            </a:br>
            <a:endParaRPr sz="1800">
              <a:solidFill>
                <a:schemeClr val="dk1"/>
              </a:solidFill>
            </a:endParaRPr>
          </a:p>
        </p:txBody>
      </p:sp>
      <p:sp>
        <p:nvSpPr>
          <p:cNvPr id="108" name="Google Shape;108;p22"/>
          <p:cNvSpPr txBox="1"/>
          <p:nvPr/>
        </p:nvSpPr>
        <p:spPr>
          <a:xfrm>
            <a:off x="312000" y="221950"/>
            <a:ext cx="8520000" cy="55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Related Work</a:t>
            </a:r>
            <a:endParaRPr sz="22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3"/>
          <p:cNvSpPr txBox="1"/>
          <p:nvPr/>
        </p:nvSpPr>
        <p:spPr>
          <a:xfrm>
            <a:off x="224925" y="476250"/>
            <a:ext cx="8520000" cy="454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8. Fused Group Lasso Regularized Multi-Task Feature Learning and Its Application to the Cognitive Performance Prediction of Alzheimer’s Disease by Lui et. al 2019</a:t>
            </a:r>
            <a:br>
              <a:rPr lang="en" sz="1800">
                <a:solidFill>
                  <a:schemeClr val="dk1"/>
                </a:solidFill>
              </a:rPr>
            </a:br>
            <a:endParaRPr sz="1800">
              <a:solidFill>
                <a:schemeClr val="dk1"/>
              </a:solidFill>
            </a:endParaRPr>
          </a:p>
          <a:p>
            <a:pPr indent="0" lvl="0" marL="0" rtl="0" algn="l">
              <a:spcBef>
                <a:spcPts val="0"/>
              </a:spcBef>
              <a:spcAft>
                <a:spcPts val="0"/>
              </a:spcAft>
              <a:buNone/>
            </a:pPr>
            <a:r>
              <a:rPr lang="en" sz="1800">
                <a:solidFill>
                  <a:schemeClr val="dk1"/>
                </a:solidFill>
              </a:rPr>
              <a:t>Literature proposes fused group lasso to solve the progression of Alzheimer’s Disease over time. This Alzheimer's paper uses a simple 1D timeline for its temporal structure, but adds the Group Lasso to strictly enforce which brain regions are selected. They employed the alternating direction method of multipliers (ADMM) to efficiently solve the proposed non-smooth formulation. </a:t>
            </a:r>
            <a:br>
              <a:rPr lang="en" sz="1800">
                <a:solidFill>
                  <a:schemeClr val="dk1"/>
                </a:solidFill>
              </a:rPr>
            </a:br>
            <a:endParaRPr sz="1800">
              <a:solidFill>
                <a:schemeClr val="dk1"/>
              </a:solidFill>
            </a:endParaRPr>
          </a:p>
          <a:p>
            <a:pPr indent="0" lvl="0" marL="0" rtl="0" algn="l">
              <a:spcBef>
                <a:spcPts val="0"/>
              </a:spcBef>
              <a:spcAft>
                <a:spcPts val="0"/>
              </a:spcAft>
              <a:buNone/>
            </a:pPr>
            <a:r>
              <a:rPr b="1" lang="en" sz="1800">
                <a:solidFill>
                  <a:schemeClr val="dk1"/>
                </a:solidFill>
              </a:rPr>
              <a:t>Difference:</a:t>
            </a:r>
            <a:r>
              <a:rPr lang="en" sz="1800">
                <a:solidFill>
                  <a:schemeClr val="dk1"/>
                </a:solidFill>
              </a:rPr>
              <a:t> This literature fuses the outputs (time points) to predict patient’s cognitive score at different time points. </a:t>
            </a:r>
            <a:endParaRPr sz="1800">
              <a:solidFill>
                <a:schemeClr val="dk1"/>
              </a:solidFill>
            </a:endParaRPr>
          </a:p>
          <a:p>
            <a:pPr indent="0" lvl="0" marL="0" rtl="0" algn="l">
              <a:spcBef>
                <a:spcPts val="0"/>
              </a:spcBef>
              <a:spcAft>
                <a:spcPts val="0"/>
              </a:spcAft>
              <a:buNone/>
            </a:pPr>
            <a:r>
              <a:rPr lang="en" sz="1800">
                <a:solidFill>
                  <a:schemeClr val="dk1"/>
                </a:solidFill>
              </a:rPr>
              <a:t>Our pipeline is not dependent on specific domain and we fuse the input features.</a:t>
            </a:r>
            <a:br>
              <a:rPr lang="en" sz="1800">
                <a:solidFill>
                  <a:schemeClr val="dk1"/>
                </a:solidFill>
              </a:rPr>
            </a:br>
            <a:endParaRPr sz="18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4"/>
          <p:cNvSpPr txBox="1"/>
          <p:nvPr/>
        </p:nvSpPr>
        <p:spPr>
          <a:xfrm>
            <a:off x="224925" y="476250"/>
            <a:ext cx="8520000" cy="454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9</a:t>
            </a:r>
            <a:r>
              <a:rPr b="1" lang="en" sz="1800">
                <a:solidFill>
                  <a:schemeClr val="dk1"/>
                </a:solidFill>
              </a:rPr>
              <a:t>. </a:t>
            </a:r>
            <a:r>
              <a:rPr b="1" lang="en" sz="1800">
                <a:solidFill>
                  <a:schemeClr val="dk1"/>
                </a:solidFill>
              </a:rPr>
              <a:t>Graph-based regularization for regression problems with highly-correlated designs, Li et. al 2018.</a:t>
            </a:r>
            <a:br>
              <a:rPr lang="en" sz="1800">
                <a:solidFill>
                  <a:schemeClr val="dk1"/>
                </a:solidFill>
              </a:rPr>
            </a:br>
            <a:endParaRPr sz="1800">
              <a:solidFill>
                <a:schemeClr val="dk1"/>
              </a:solidFill>
            </a:endParaRPr>
          </a:p>
          <a:p>
            <a:pPr indent="0" lvl="0" marL="0" rtl="0" algn="l">
              <a:spcBef>
                <a:spcPts val="0"/>
              </a:spcBef>
              <a:spcAft>
                <a:spcPts val="0"/>
              </a:spcAft>
              <a:buNone/>
            </a:pPr>
            <a:r>
              <a:rPr lang="en" sz="1800">
                <a:solidFill>
                  <a:schemeClr val="dk1"/>
                </a:solidFill>
              </a:rPr>
              <a:t>Uses correlation to formulate the graph (Graph Total Variation penalty) for the fused lasso high dimensional problems. Provides mathematical proofs as to why it works especially in cases where features are highly correlated which is the case in many real world applications.</a:t>
            </a:r>
            <a:br>
              <a:rPr lang="en" sz="1800">
                <a:solidFill>
                  <a:schemeClr val="dk1"/>
                </a:solidFill>
              </a:rPr>
            </a:br>
            <a:endParaRPr sz="1800">
              <a:solidFill>
                <a:schemeClr val="dk1"/>
              </a:solidFill>
            </a:endParaRPr>
          </a:p>
          <a:p>
            <a:pPr indent="0" lvl="0" marL="0" rtl="0" algn="l">
              <a:spcBef>
                <a:spcPts val="0"/>
              </a:spcBef>
              <a:spcAft>
                <a:spcPts val="0"/>
              </a:spcAft>
              <a:buNone/>
            </a:pPr>
            <a:r>
              <a:rPr b="1" lang="en" sz="1800">
                <a:solidFill>
                  <a:schemeClr val="dk1"/>
                </a:solidFill>
              </a:rPr>
              <a:t>Difference:</a:t>
            </a:r>
            <a:r>
              <a:rPr lang="en" sz="1800">
                <a:solidFill>
                  <a:schemeClr val="dk1"/>
                </a:solidFill>
              </a:rPr>
              <a:t> In our work, we focus on optimizing current l1 and l2 methods especially in large group(k) regimes and taking advantage of the structure in the graph (most efficiency gains occur in sparse graphs). In terms of the graph structure, we need a priori to guide the graph.</a:t>
            </a:r>
            <a:endParaRPr sz="18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5"/>
          <p:cNvSpPr txBox="1"/>
          <p:nvPr/>
        </p:nvSpPr>
        <p:spPr>
          <a:xfrm>
            <a:off x="224925" y="476250"/>
            <a:ext cx="8520000" cy="454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10</a:t>
            </a:r>
            <a:r>
              <a:rPr b="1" lang="en" sz="1800">
                <a:solidFill>
                  <a:schemeClr val="dk1"/>
                </a:solidFill>
              </a:rPr>
              <a:t>. </a:t>
            </a:r>
            <a:r>
              <a:rPr b="1" lang="en" sz="1800">
                <a:solidFill>
                  <a:schemeClr val="dk1"/>
                </a:solidFill>
              </a:rPr>
              <a:t>Fused lasso for feature selection using structural information, Cui et. al, 2021</a:t>
            </a:r>
            <a:br>
              <a:rPr lang="en" sz="1800">
                <a:solidFill>
                  <a:schemeClr val="dk1"/>
                </a:solidFill>
              </a:rPr>
            </a:br>
            <a:endParaRPr sz="1800">
              <a:solidFill>
                <a:schemeClr val="dk1"/>
              </a:solidFill>
            </a:endParaRPr>
          </a:p>
          <a:p>
            <a:pPr indent="0" lvl="0" marL="0" rtl="0" algn="l">
              <a:spcBef>
                <a:spcPts val="0"/>
              </a:spcBef>
              <a:spcAft>
                <a:spcPts val="0"/>
              </a:spcAft>
              <a:buNone/>
            </a:pPr>
            <a:r>
              <a:rPr lang="en" sz="1800">
                <a:solidFill>
                  <a:schemeClr val="dk1"/>
                </a:solidFill>
              </a:rPr>
              <a:t>Literature</a:t>
            </a:r>
            <a:r>
              <a:rPr lang="en" sz="1800">
                <a:solidFill>
                  <a:schemeClr val="dk1"/>
                </a:solidFill>
              </a:rPr>
              <a:t> unifies the minimization problem of Fused Lasso and propose the fused lasso for feature selection using structural information represented as graph (</a:t>
            </a:r>
            <a:r>
              <a:rPr b="1" lang="en" sz="1800">
                <a:solidFill>
                  <a:schemeClr val="dk1"/>
                </a:solidFill>
              </a:rPr>
              <a:t>InFusedLasso</a:t>
            </a:r>
            <a:r>
              <a:rPr lang="en" sz="1800">
                <a:solidFill>
                  <a:schemeClr val="dk1"/>
                </a:solidFill>
              </a:rPr>
              <a:t>). Uses the structural information between samples. This is done to balance relevancy (how good a feature is) with redundancy (if two features do the exact same thing). We got the </a:t>
            </a:r>
            <a:r>
              <a:rPr b="1" lang="en" sz="1800">
                <a:solidFill>
                  <a:schemeClr val="dk1"/>
                </a:solidFill>
              </a:rPr>
              <a:t>dense sort </a:t>
            </a:r>
            <a:r>
              <a:rPr lang="en" sz="1800">
                <a:solidFill>
                  <a:schemeClr val="dk1"/>
                </a:solidFill>
              </a:rPr>
              <a:t>idea from this paper because in this paper, they use sorting to organize features so that similar features will be close (</a:t>
            </a:r>
            <a:r>
              <a:rPr b="1" lang="en" sz="1800">
                <a:solidFill>
                  <a:schemeClr val="dk1"/>
                </a:solidFill>
              </a:rPr>
              <a:t>Graph Alignment).</a:t>
            </a:r>
            <a:endParaRPr b="1" sz="1800">
              <a:solidFill>
                <a:schemeClr val="dk1"/>
              </a:solidFill>
            </a:endParaRPr>
          </a:p>
          <a:p>
            <a:pPr indent="0" lvl="0" marL="0" rtl="0" algn="l">
              <a:spcBef>
                <a:spcPts val="0"/>
              </a:spcBef>
              <a:spcAft>
                <a:spcPts val="0"/>
              </a:spcAft>
              <a:buNone/>
            </a:pPr>
            <a:r>
              <a:t/>
            </a:r>
            <a:endParaRPr b="1" sz="1800">
              <a:solidFill>
                <a:schemeClr val="dk1"/>
              </a:solidFill>
            </a:endParaRPr>
          </a:p>
          <a:p>
            <a:pPr indent="0" lvl="0" marL="0" rtl="0" algn="l">
              <a:spcBef>
                <a:spcPts val="0"/>
              </a:spcBef>
              <a:spcAft>
                <a:spcPts val="0"/>
              </a:spcAft>
              <a:buNone/>
            </a:pPr>
            <a:r>
              <a:rPr b="1" lang="en" sz="1800">
                <a:solidFill>
                  <a:schemeClr val="dk1"/>
                </a:solidFill>
              </a:rPr>
              <a:t>Difference: </a:t>
            </a:r>
            <a:r>
              <a:rPr lang="en" sz="1800">
                <a:solidFill>
                  <a:schemeClr val="dk1"/>
                </a:solidFill>
              </a:rPr>
              <a:t>This paper builds on top of fused lasso to incorporate structural information, our work optimizes the fused lasso (in relation to this, we use dense sort to sort uniform dense graph to improve computational efficiency).</a:t>
            </a:r>
            <a:endParaRPr sz="18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6"/>
          <p:cNvSpPr txBox="1"/>
          <p:nvPr/>
        </p:nvSpPr>
        <p:spPr>
          <a:xfrm>
            <a:off x="224925" y="476250"/>
            <a:ext cx="8520000" cy="454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11. </a:t>
            </a:r>
            <a:r>
              <a:rPr b="1" lang="en" sz="1800">
                <a:solidFill>
                  <a:schemeClr val="dk1"/>
                </a:solidFill>
              </a:rPr>
              <a:t>Split Bregman method for large scale fused Lasso, Ye et. al 2011</a:t>
            </a:r>
            <a:br>
              <a:rPr lang="en" sz="1800">
                <a:solidFill>
                  <a:schemeClr val="dk1"/>
                </a:solidFill>
              </a:rPr>
            </a:br>
            <a:endParaRPr sz="1800">
              <a:solidFill>
                <a:schemeClr val="dk1"/>
              </a:solidFill>
            </a:endParaRPr>
          </a:p>
          <a:p>
            <a:pPr indent="0" lvl="0" marL="0" rtl="0" algn="l">
              <a:spcBef>
                <a:spcPts val="0"/>
              </a:spcBef>
              <a:spcAft>
                <a:spcPts val="0"/>
              </a:spcAft>
              <a:buNone/>
            </a:pPr>
            <a:r>
              <a:rPr lang="en" sz="1800">
                <a:solidFill>
                  <a:schemeClr val="dk1"/>
                </a:solidFill>
              </a:rPr>
              <a:t>When we talked about the Alzheimer's paper, we discussed how ADMM replaced the slow, brute-force Quadratic Programming (QP) of the original 2005 paper. This 2011 paper by Ye and Xie introduces the Split Bregman method, which is essentially the mathematical sibling to ADMM. It was the major breakthrough that allowed the original 1D Fused Lasso to finally run on massive datasets.</a:t>
            </a:r>
            <a:endParaRPr sz="1800">
              <a:solidFill>
                <a:schemeClr val="dk1"/>
              </a:solidFill>
            </a:endParaRPr>
          </a:p>
          <a:p>
            <a:pPr indent="0" lvl="0" marL="0" rtl="0" algn="l">
              <a:spcBef>
                <a:spcPts val="0"/>
              </a:spcBef>
              <a:spcAft>
                <a:spcPts val="0"/>
              </a:spcAft>
              <a:buNone/>
            </a:pPr>
            <a:r>
              <a:t/>
            </a:r>
            <a:endParaRPr b="1" sz="1800">
              <a:solidFill>
                <a:schemeClr val="dk1"/>
              </a:solidFill>
            </a:endParaRPr>
          </a:p>
          <a:p>
            <a:pPr indent="0" lvl="0" marL="0" rtl="0" algn="l">
              <a:spcBef>
                <a:spcPts val="0"/>
              </a:spcBef>
              <a:spcAft>
                <a:spcPts val="0"/>
              </a:spcAft>
              <a:buNone/>
            </a:pPr>
            <a:r>
              <a:rPr b="1" lang="en" sz="1800">
                <a:solidFill>
                  <a:schemeClr val="dk1"/>
                </a:solidFill>
              </a:rPr>
              <a:t>Difference: </a:t>
            </a:r>
            <a:r>
              <a:rPr lang="en" sz="1800">
                <a:solidFill>
                  <a:schemeClr val="dk1"/>
                </a:solidFill>
              </a:rPr>
              <a:t>Our main optimization family that we use is Smoothed proximal gradient Descent (Chen et. al 2012). It is generally preferred when the problem is massive.</a:t>
            </a:r>
            <a:endParaRPr sz="18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7"/>
          <p:cNvSpPr txBox="1"/>
          <p:nvPr/>
        </p:nvSpPr>
        <p:spPr>
          <a:xfrm>
            <a:off x="224925" y="519884"/>
            <a:ext cx="8520000" cy="41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12. </a:t>
            </a:r>
            <a:r>
              <a:rPr b="1" lang="en" sz="1800">
                <a:solidFill>
                  <a:schemeClr val="dk1"/>
                </a:solidFill>
              </a:rPr>
              <a:t>Graph-Guided Fused Regularization for Single- and Multi-Task Regression on Spatiotemporal Data (2026 by Lin et. al)</a:t>
            </a:r>
            <a:endParaRPr b="1" sz="1800">
              <a:solidFill>
                <a:schemeClr val="dk1"/>
              </a:solidFill>
            </a:endParaRPr>
          </a:p>
          <a:p>
            <a:pPr indent="0" lvl="0" marL="0" rtl="0" algn="l">
              <a:spcBef>
                <a:spcPts val="0"/>
              </a:spcBef>
              <a:spcAft>
                <a:spcPts val="0"/>
              </a:spcAft>
              <a:buNone/>
            </a:pPr>
            <a:br>
              <a:rPr lang="en" sz="1800">
                <a:solidFill>
                  <a:schemeClr val="dk1"/>
                </a:solidFill>
              </a:rPr>
            </a:br>
            <a:r>
              <a:rPr lang="en" sz="1800">
                <a:solidFill>
                  <a:schemeClr val="dk1"/>
                </a:solidFill>
              </a:rPr>
              <a:t>New generalized graph-guided fused lasso for spatiotemporal matrix regression (single-task + multi-task), with a modified Halpern Peaceman-Rachford (HPR) optimizer and convergence/theory claims.</a:t>
            </a:r>
            <a:br>
              <a:rPr lang="en" sz="1800">
                <a:solidFill>
                  <a:schemeClr val="dk1"/>
                </a:solidFill>
              </a:rPr>
            </a:br>
            <a:br>
              <a:rPr lang="en" sz="1800">
                <a:solidFill>
                  <a:schemeClr val="dk1"/>
                </a:solidFill>
              </a:rPr>
            </a:br>
            <a:r>
              <a:rPr b="1" lang="en" sz="1800">
                <a:solidFill>
                  <a:schemeClr val="dk1"/>
                </a:solidFill>
              </a:rPr>
              <a:t>Difference:</a:t>
            </a:r>
            <a:r>
              <a:rPr lang="en" sz="1800">
                <a:solidFill>
                  <a:schemeClr val="dk1"/>
                </a:solidFill>
              </a:rPr>
              <a:t> We are not modeling matrix-valued spatiotemporal structure explicitly. We are doing subgroup fusion regression with practical solver variants and runtime/memory benchmarking on public grouped datasets.</a:t>
            </a:r>
            <a:endParaRPr sz="1800">
              <a:solidFill>
                <a:schemeClr val="dk1"/>
              </a:solidFill>
            </a:endParaRPr>
          </a:p>
          <a:p>
            <a:pPr indent="0" lvl="0" marL="0" rtl="0" algn="l">
              <a:spcBef>
                <a:spcPts val="0"/>
              </a:spcBef>
              <a:spcAft>
                <a:spcPts val="0"/>
              </a:spcAft>
              <a:buNone/>
            </a:pPr>
            <a:r>
              <a:t/>
            </a:r>
            <a:endParaRPr sz="18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8"/>
          <p:cNvSpPr txBox="1"/>
          <p:nvPr/>
        </p:nvSpPr>
        <p:spPr>
          <a:xfrm>
            <a:off x="224925" y="476250"/>
            <a:ext cx="8520000" cy="454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14. Application of fused lasso</a:t>
            </a:r>
            <a:endParaRPr b="1" sz="1800">
              <a:solidFill>
                <a:schemeClr val="dk1"/>
              </a:solidFill>
            </a:endParaRPr>
          </a:p>
          <a:p>
            <a:pPr indent="0" lvl="0" marL="0" rtl="0" algn="l">
              <a:spcBef>
                <a:spcPts val="0"/>
              </a:spcBef>
              <a:spcAft>
                <a:spcPts val="0"/>
              </a:spcAft>
              <a:buNone/>
            </a:pPr>
            <a:r>
              <a:t/>
            </a:r>
            <a:endParaRPr b="1" sz="1800">
              <a:solidFill>
                <a:schemeClr val="dk1"/>
              </a:solidFill>
            </a:endParaRPr>
          </a:p>
          <a:p>
            <a:pPr indent="0" lvl="0" marL="0" rtl="0" algn="l">
              <a:spcBef>
                <a:spcPts val="0"/>
              </a:spcBef>
              <a:spcAft>
                <a:spcPts val="0"/>
              </a:spcAft>
              <a:buNone/>
            </a:pPr>
            <a:r>
              <a:rPr lang="en" sz="1800">
                <a:solidFill>
                  <a:schemeClr val="dk1"/>
                </a:solidFill>
              </a:rPr>
              <a:t>These papers apply fused lasso in a specific field without any major algorithm propositions.</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n" sz="1800">
                <a:solidFill>
                  <a:schemeClr val="dk1"/>
                </a:solidFill>
              </a:rPr>
              <a:t>Classification of spectral data using fused lasso logistic regression, Yu et. al 2015</a:t>
            </a:r>
            <a:endParaRPr sz="1800">
              <a:solidFill>
                <a:schemeClr val="dk1"/>
              </a:solidFill>
            </a:endParaRPr>
          </a:p>
          <a:p>
            <a:pPr indent="0" lvl="0" marL="0" rtl="0" algn="l">
              <a:spcBef>
                <a:spcPts val="0"/>
              </a:spcBef>
              <a:spcAft>
                <a:spcPts val="0"/>
              </a:spcAft>
              <a:buNone/>
            </a:pPr>
            <a:r>
              <a:rPr lang="en" sz="1800">
                <a:solidFill>
                  <a:schemeClr val="dk1"/>
                </a:solidFill>
              </a:rPr>
              <a:t>Spatial smoothing and hot spot detection for CGH data using the fused lasso, Tibshirani et. al, 2007</a:t>
            </a:r>
            <a:endParaRPr sz="1800">
              <a:solidFill>
                <a:schemeClr val="dk1"/>
              </a:solidFill>
            </a:endParaRPr>
          </a:p>
          <a:p>
            <a:pPr indent="0" lvl="0" marL="0" rtl="0" algn="l">
              <a:spcBef>
                <a:spcPts val="0"/>
              </a:spcBef>
              <a:spcAft>
                <a:spcPts val="0"/>
              </a:spcAft>
              <a:buNone/>
            </a:pPr>
            <a:r>
              <a:rPr lang="en" sz="1800">
                <a:solidFill>
                  <a:schemeClr val="dk1"/>
                </a:solidFill>
              </a:rPr>
              <a:t>Spacing Test for Fused Lasso, Tasaka et. al 2025</a:t>
            </a:r>
            <a:endParaRPr sz="1800">
              <a:solidFill>
                <a:schemeClr val="dk1"/>
              </a:solidFill>
            </a:endParaRPr>
          </a:p>
          <a:p>
            <a:pPr indent="0" lvl="0" marL="0" rtl="0" algn="l">
              <a:spcBef>
                <a:spcPts val="0"/>
              </a:spcBef>
              <a:spcAft>
                <a:spcPts val="0"/>
              </a:spcAft>
              <a:buNone/>
            </a:pPr>
            <a:r>
              <a:t/>
            </a:r>
            <a:endParaRPr sz="18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id="143" name="Google Shape;143;p29" title="Group 1.png"/>
          <p:cNvPicPr preferRelativeResize="0"/>
          <p:nvPr/>
        </p:nvPicPr>
        <p:blipFill>
          <a:blip r:embed="rId3">
            <a:alphaModFix/>
          </a:blip>
          <a:stretch>
            <a:fillRect/>
          </a:stretch>
        </p:blipFill>
        <p:spPr>
          <a:xfrm>
            <a:off x="307850" y="1053797"/>
            <a:ext cx="8528276" cy="2415224"/>
          </a:xfrm>
          <a:prstGeom prst="rect">
            <a:avLst/>
          </a:prstGeom>
          <a:noFill/>
          <a:ln>
            <a:noFill/>
          </a:ln>
        </p:spPr>
      </p:pic>
      <p:sp>
        <p:nvSpPr>
          <p:cNvPr id="144" name="Google Shape;144;p29"/>
          <p:cNvSpPr txBox="1"/>
          <p:nvPr/>
        </p:nvSpPr>
        <p:spPr>
          <a:xfrm>
            <a:off x="295925" y="3866800"/>
            <a:ext cx="8385000" cy="12399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AutoNum type="alphaUcPeriod"/>
            </a:pPr>
            <a:r>
              <a:rPr lang="en">
                <a:solidFill>
                  <a:schemeClr val="dk1"/>
                </a:solidFill>
              </a:rPr>
              <a:t>Fusion Graph Construction. Legacy Full-Edge (</a:t>
            </a:r>
            <a:r>
              <a:rPr lang="en">
                <a:solidFill>
                  <a:schemeClr val="dk1"/>
                </a:solidFill>
              </a:rPr>
              <a:t>Dondelinger et. al 2016) forms a combined constraint matrix.</a:t>
            </a:r>
            <a:endParaRPr>
              <a:solidFill>
                <a:schemeClr val="dk1"/>
              </a:solidFill>
            </a:endParaRPr>
          </a:p>
          <a:p>
            <a:pPr indent="-317500" lvl="0" marL="457200" rtl="0" algn="l">
              <a:spcBef>
                <a:spcPts val="0"/>
              </a:spcBef>
              <a:spcAft>
                <a:spcPts val="0"/>
              </a:spcAft>
              <a:buClr>
                <a:schemeClr val="dk1"/>
              </a:buClr>
              <a:buSzPts val="1400"/>
              <a:buAutoNum type="alphaUcPeriod"/>
            </a:pPr>
            <a:r>
              <a:rPr lang="en">
                <a:solidFill>
                  <a:schemeClr val="dk1"/>
                </a:solidFill>
              </a:rPr>
              <a:t>Asymptotic Complexity. Synthetic data with p = 120, n_group_train = 35 so at k = 100, n = 3500. Graph is sparse chain structure. All other hyper-params are fixed.</a:t>
            </a:r>
            <a:r>
              <a:rPr lang="en">
                <a:solidFill>
                  <a:schemeClr val="dk1"/>
                </a:solidFill>
              </a:rPr>
              <a:t> From O(pk^3) to O(pm)</a:t>
            </a:r>
            <a:endParaRPr>
              <a:solidFill>
                <a:schemeClr val="dk1"/>
              </a:solidFill>
            </a:endParaRPr>
          </a:p>
        </p:txBody>
      </p:sp>
      <p:sp>
        <p:nvSpPr>
          <p:cNvPr id="145" name="Google Shape;145;p29"/>
          <p:cNvSpPr txBox="1"/>
          <p:nvPr/>
        </p:nvSpPr>
        <p:spPr>
          <a:xfrm>
            <a:off x="295925" y="221950"/>
            <a:ext cx="8520000" cy="55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2200">
                <a:solidFill>
                  <a:schemeClr val="dk1"/>
                </a:solidFill>
              </a:rPr>
              <a:t>L1 Optimization Concept</a:t>
            </a:r>
            <a:endParaRPr sz="2200">
              <a:solidFill>
                <a:schemeClr val="dk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id="150" name="Google Shape;150;p30" title="Group 3.png"/>
          <p:cNvPicPr preferRelativeResize="0"/>
          <p:nvPr/>
        </p:nvPicPr>
        <p:blipFill>
          <a:blip r:embed="rId3">
            <a:alphaModFix/>
          </a:blip>
          <a:stretch>
            <a:fillRect/>
          </a:stretch>
        </p:blipFill>
        <p:spPr>
          <a:xfrm>
            <a:off x="314850" y="1240325"/>
            <a:ext cx="8514299" cy="2365551"/>
          </a:xfrm>
          <a:prstGeom prst="rect">
            <a:avLst/>
          </a:prstGeom>
          <a:noFill/>
          <a:ln>
            <a:noFill/>
          </a:ln>
        </p:spPr>
      </p:pic>
      <p:sp>
        <p:nvSpPr>
          <p:cNvPr id="151" name="Google Shape;151;p30"/>
          <p:cNvSpPr txBox="1"/>
          <p:nvPr/>
        </p:nvSpPr>
        <p:spPr>
          <a:xfrm>
            <a:off x="295925" y="221950"/>
            <a:ext cx="8520000" cy="55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2200">
                <a:solidFill>
                  <a:schemeClr val="dk1"/>
                </a:solidFill>
              </a:rPr>
              <a:t>L2 Optimization Concept</a:t>
            </a:r>
            <a:endParaRPr sz="2200">
              <a:solidFill>
                <a:schemeClr val="dk2"/>
              </a:solidFill>
            </a:endParaRPr>
          </a:p>
        </p:txBody>
      </p:sp>
      <p:sp>
        <p:nvSpPr>
          <p:cNvPr id="152" name="Google Shape;152;p30"/>
          <p:cNvSpPr txBox="1"/>
          <p:nvPr/>
        </p:nvSpPr>
        <p:spPr>
          <a:xfrm>
            <a:off x="80025" y="3806875"/>
            <a:ext cx="8385000" cy="12399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AutoNum type="alphaUcPeriod"/>
            </a:pPr>
            <a:r>
              <a:rPr lang="en">
                <a:solidFill>
                  <a:schemeClr val="dk1"/>
                </a:solidFill>
              </a:rPr>
              <a:t>Augmented</a:t>
            </a:r>
            <a:r>
              <a:rPr lang="en">
                <a:solidFill>
                  <a:schemeClr val="dk1"/>
                </a:solidFill>
              </a:rPr>
              <a:t> Matrix Construction. Legacy Full-Edge (Dondelinger et. al 2016) forms a combined constraint matrix.</a:t>
            </a:r>
            <a:endParaRPr>
              <a:solidFill>
                <a:schemeClr val="dk1"/>
              </a:solidFill>
            </a:endParaRPr>
          </a:p>
          <a:p>
            <a:pPr indent="-317500" lvl="0" marL="457200" rtl="0" algn="l">
              <a:spcBef>
                <a:spcPts val="0"/>
              </a:spcBef>
              <a:spcAft>
                <a:spcPts val="0"/>
              </a:spcAft>
              <a:buClr>
                <a:schemeClr val="dk1"/>
              </a:buClr>
              <a:buSzPts val="1400"/>
              <a:buAutoNum type="alphaUcPeriod"/>
            </a:pPr>
            <a:r>
              <a:rPr lang="en">
                <a:solidFill>
                  <a:schemeClr val="dk1"/>
                </a:solidFill>
              </a:rPr>
              <a:t>Asymptotic Complexity. Synthetic data with p = 120, n_group_train = 35 so at k = 100, n = 3500. Graph is sparse chain structure. All other hyper-params are fixed. From O(pk^2) to O(pm)</a:t>
            </a:r>
            <a:endParaRPr>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graphicFrame>
        <p:nvGraphicFramePr>
          <p:cNvPr id="157" name="Google Shape;157;p31"/>
          <p:cNvGraphicFramePr/>
          <p:nvPr/>
        </p:nvGraphicFramePr>
        <p:xfrm>
          <a:off x="335426" y="1037725"/>
          <a:ext cx="3000000" cy="3000000"/>
        </p:xfrm>
        <a:graphic>
          <a:graphicData uri="http://schemas.openxmlformats.org/drawingml/2006/table">
            <a:tbl>
              <a:tblPr>
                <a:noFill/>
                <a:tableStyleId>{DFA38794-CA9A-4C22-9210-341691C4999A}</a:tableStyleId>
              </a:tblPr>
              <a:tblGrid>
                <a:gridCol w="2109525"/>
                <a:gridCol w="886000"/>
                <a:gridCol w="753550"/>
                <a:gridCol w="726650"/>
                <a:gridCol w="726650"/>
                <a:gridCol w="3238850"/>
              </a:tblGrid>
              <a:tr h="381000">
                <a:tc>
                  <a:txBody>
                    <a:bodyPr/>
                    <a:lstStyle/>
                    <a:p>
                      <a:pPr indent="0" lvl="0" marL="0" rtl="0" algn="l">
                        <a:spcBef>
                          <a:spcPts val="0"/>
                        </a:spcBef>
                        <a:spcAft>
                          <a:spcPts val="0"/>
                        </a:spcAft>
                        <a:buNone/>
                      </a:pPr>
                      <a:r>
                        <a:rPr lang="en" sz="1200"/>
                        <a:t>Real Data</a:t>
                      </a:r>
                      <a:endParaRPr sz="1200"/>
                    </a:p>
                  </a:txBody>
                  <a:tcPr marT="91425" marB="91425" marR="91425" marL="91425"/>
                </a:tc>
                <a:tc>
                  <a:txBody>
                    <a:bodyPr/>
                    <a:lstStyle/>
                    <a:p>
                      <a:pPr indent="0" lvl="0" marL="0" rtl="0" algn="l">
                        <a:spcBef>
                          <a:spcPts val="0"/>
                        </a:spcBef>
                        <a:spcAft>
                          <a:spcPts val="0"/>
                        </a:spcAft>
                        <a:buNone/>
                      </a:pPr>
                      <a:r>
                        <a:rPr lang="en" sz="1200"/>
                        <a:t>N</a:t>
                      </a:r>
                      <a:endParaRPr sz="1200"/>
                    </a:p>
                  </a:txBody>
                  <a:tcPr marT="91425" marB="91425" marR="91425" marL="91425"/>
                </a:tc>
                <a:tc>
                  <a:txBody>
                    <a:bodyPr/>
                    <a:lstStyle/>
                    <a:p>
                      <a:pPr indent="0" lvl="0" marL="0" rtl="0" algn="l">
                        <a:spcBef>
                          <a:spcPts val="0"/>
                        </a:spcBef>
                        <a:spcAft>
                          <a:spcPts val="0"/>
                        </a:spcAft>
                        <a:buNone/>
                      </a:pPr>
                      <a:r>
                        <a:rPr lang="en" sz="1200"/>
                        <a:t>P</a:t>
                      </a:r>
                      <a:endParaRPr sz="1200"/>
                    </a:p>
                  </a:txBody>
                  <a:tcPr marT="91425" marB="91425" marR="91425" marL="91425"/>
                </a:tc>
                <a:tc>
                  <a:txBody>
                    <a:bodyPr/>
                    <a:lstStyle/>
                    <a:p>
                      <a:pPr indent="0" lvl="0" marL="0" rtl="0" algn="l">
                        <a:spcBef>
                          <a:spcPts val="0"/>
                        </a:spcBef>
                        <a:spcAft>
                          <a:spcPts val="0"/>
                        </a:spcAft>
                        <a:buNone/>
                      </a:pPr>
                      <a:r>
                        <a:rPr lang="en" sz="1200"/>
                        <a:t>K</a:t>
                      </a:r>
                      <a:endParaRPr sz="1200"/>
                    </a:p>
                  </a:txBody>
                  <a:tcPr marT="91425" marB="91425" marR="91425" marL="91425"/>
                </a:tc>
                <a:tc>
                  <a:txBody>
                    <a:bodyPr/>
                    <a:lstStyle/>
                    <a:p>
                      <a:pPr indent="0" lvl="0" marL="0" rtl="0" algn="l">
                        <a:spcBef>
                          <a:spcPts val="0"/>
                        </a:spcBef>
                        <a:spcAft>
                          <a:spcPts val="0"/>
                        </a:spcAft>
                        <a:buNone/>
                      </a:pPr>
                      <a:r>
                        <a:rPr lang="en" sz="1200"/>
                        <a:t>SubsetType</a:t>
                      </a:r>
                      <a:endParaRPr sz="1200"/>
                    </a:p>
                  </a:txBody>
                  <a:tcPr marT="91425" marB="91425" marR="91425" marL="91425"/>
                </a:tc>
                <a:tc>
                  <a:txBody>
                    <a:bodyPr/>
                    <a:lstStyle/>
                    <a:p>
                      <a:pPr indent="0" lvl="0" marL="0" rtl="0" algn="l">
                        <a:spcBef>
                          <a:spcPts val="0"/>
                        </a:spcBef>
                        <a:spcAft>
                          <a:spcPts val="0"/>
                        </a:spcAft>
                        <a:buNone/>
                      </a:pPr>
                      <a:r>
                        <a:rPr lang="en"/>
                        <a:t>Citation</a:t>
                      </a:r>
                      <a:endParaRPr/>
                    </a:p>
                  </a:txBody>
                  <a:tcPr marT="91425" marB="91425" marR="91425" marL="91425"/>
                </a:tc>
              </a:tr>
              <a:tr h="381000">
                <a:tc>
                  <a:txBody>
                    <a:bodyPr/>
                    <a:lstStyle/>
                    <a:p>
                      <a:pPr indent="0" lvl="0" marL="0" rtl="0" algn="l">
                        <a:spcBef>
                          <a:spcPts val="0"/>
                        </a:spcBef>
                        <a:spcAft>
                          <a:spcPts val="0"/>
                        </a:spcAft>
                        <a:buNone/>
                      </a:pPr>
                      <a:r>
                        <a:rPr lang="en" sz="1200"/>
                        <a:t>communities_crime</a:t>
                      </a:r>
                      <a:endParaRPr sz="1200"/>
                    </a:p>
                  </a:txBody>
                  <a:tcPr marT="91425" marB="91425" marR="91425" marL="91425"/>
                </a:tc>
                <a:tc>
                  <a:txBody>
                    <a:bodyPr/>
                    <a:lstStyle/>
                    <a:p>
                      <a:pPr indent="0" lvl="0" marL="0" rtl="0" algn="l">
                        <a:spcBef>
                          <a:spcPts val="0"/>
                        </a:spcBef>
                        <a:spcAft>
                          <a:spcPts val="0"/>
                        </a:spcAft>
                        <a:buNone/>
                      </a:pPr>
                      <a:r>
                        <a:rPr lang="en" sz="1200"/>
                        <a:t>1,991</a:t>
                      </a:r>
                      <a:endParaRPr sz="1200"/>
                    </a:p>
                  </a:txBody>
                  <a:tcPr marT="91425" marB="91425" marR="91425" marL="91425"/>
                </a:tc>
                <a:tc>
                  <a:txBody>
                    <a:bodyPr/>
                    <a:lstStyle/>
                    <a:p>
                      <a:pPr indent="0" lvl="0" marL="0" rtl="0" algn="l">
                        <a:spcBef>
                          <a:spcPts val="0"/>
                        </a:spcBef>
                        <a:spcAft>
                          <a:spcPts val="0"/>
                        </a:spcAft>
                        <a:buNone/>
                      </a:pPr>
                      <a:r>
                        <a:rPr lang="en" sz="1200"/>
                        <a:t>100</a:t>
                      </a:r>
                      <a:endParaRPr sz="1200"/>
                    </a:p>
                  </a:txBody>
                  <a:tcPr marT="91425" marB="91425" marR="91425" marL="91425"/>
                </a:tc>
                <a:tc>
                  <a:txBody>
                    <a:bodyPr/>
                    <a:lstStyle/>
                    <a:p>
                      <a:pPr indent="0" lvl="0" marL="0" rtl="0" algn="l">
                        <a:spcBef>
                          <a:spcPts val="0"/>
                        </a:spcBef>
                        <a:spcAft>
                          <a:spcPts val="0"/>
                        </a:spcAft>
                        <a:buNone/>
                      </a:pPr>
                      <a:r>
                        <a:rPr lang="en" sz="1200"/>
                        <a:t>43</a:t>
                      </a:r>
                      <a:endParaRPr sz="1200"/>
                    </a:p>
                  </a:txBody>
                  <a:tcPr marT="91425" marB="91425" marR="91425" marL="91425"/>
                </a:tc>
                <a:tc>
                  <a:txBody>
                    <a:bodyPr/>
                    <a:lstStyle/>
                    <a:p>
                      <a:pPr indent="0" lvl="0" marL="0" rtl="0" algn="l">
                        <a:spcBef>
                          <a:spcPts val="0"/>
                        </a:spcBef>
                        <a:spcAft>
                          <a:spcPts val="0"/>
                        </a:spcAft>
                        <a:buNone/>
                      </a:pPr>
                      <a:r>
                        <a:rPr lang="en" sz="1200"/>
                        <a:t>Cities</a:t>
                      </a:r>
                      <a:endParaRPr sz="1200"/>
                    </a:p>
                  </a:txBody>
                  <a:tcPr marT="91425" marB="91425" marR="91425" marL="91425"/>
                </a:tc>
                <a:tc>
                  <a:txBody>
                    <a:bodyPr/>
                    <a:lstStyle/>
                    <a:p>
                      <a:pPr indent="0" lvl="0" marL="0" rtl="0" algn="l">
                        <a:spcBef>
                          <a:spcPts val="0"/>
                        </a:spcBef>
                        <a:spcAft>
                          <a:spcPts val="0"/>
                        </a:spcAft>
                        <a:buNone/>
                      </a:pPr>
                      <a:r>
                        <a:rPr lang="en" sz="900"/>
                        <a:t>Redmond, M. (2002). Communities and Crime [Dataset].</a:t>
                      </a:r>
                      <a:endParaRPr sz="900"/>
                    </a:p>
                  </a:txBody>
                  <a:tcPr marT="91425" marB="91425" marR="91425" marL="91425"/>
                </a:tc>
              </a:tr>
              <a:tr h="381000">
                <a:tc>
                  <a:txBody>
                    <a:bodyPr/>
                    <a:lstStyle/>
                    <a:p>
                      <a:pPr indent="0" lvl="0" marL="0" rtl="0" algn="l">
                        <a:spcBef>
                          <a:spcPts val="0"/>
                        </a:spcBef>
                        <a:spcAft>
                          <a:spcPts val="0"/>
                        </a:spcAft>
                        <a:buNone/>
                      </a:pPr>
                      <a:r>
                        <a:rPr lang="en" sz="1200"/>
                        <a:t>rdatasets_exam_inner_london</a:t>
                      </a:r>
                      <a:endParaRPr sz="1200"/>
                    </a:p>
                  </a:txBody>
                  <a:tcPr marT="91425" marB="91425" marR="91425" marL="91425"/>
                </a:tc>
                <a:tc>
                  <a:txBody>
                    <a:bodyPr/>
                    <a:lstStyle/>
                    <a:p>
                      <a:pPr indent="0" lvl="0" marL="0" rtl="0" algn="l">
                        <a:spcBef>
                          <a:spcPts val="0"/>
                        </a:spcBef>
                        <a:spcAft>
                          <a:spcPts val="0"/>
                        </a:spcAft>
                        <a:buNone/>
                      </a:pPr>
                      <a:r>
                        <a:rPr lang="en" sz="1200"/>
                        <a:t>4057</a:t>
                      </a:r>
                      <a:endParaRPr sz="1200"/>
                    </a:p>
                  </a:txBody>
                  <a:tcPr marT="91425" marB="91425" marR="91425" marL="91425"/>
                </a:tc>
                <a:tc>
                  <a:txBody>
                    <a:bodyPr/>
                    <a:lstStyle/>
                    <a:p>
                      <a:pPr indent="0" lvl="0" marL="0" rtl="0" algn="l">
                        <a:spcBef>
                          <a:spcPts val="0"/>
                        </a:spcBef>
                        <a:spcAft>
                          <a:spcPts val="0"/>
                        </a:spcAft>
                        <a:buNone/>
                      </a:pPr>
                      <a:r>
                        <a:rPr lang="en" sz="1200"/>
                        <a:t>7</a:t>
                      </a:r>
                      <a:endParaRPr sz="1200"/>
                    </a:p>
                  </a:txBody>
                  <a:tcPr marT="91425" marB="91425" marR="91425" marL="91425"/>
                </a:tc>
                <a:tc>
                  <a:txBody>
                    <a:bodyPr/>
                    <a:lstStyle/>
                    <a:p>
                      <a:pPr indent="0" lvl="0" marL="0" rtl="0" algn="l">
                        <a:spcBef>
                          <a:spcPts val="0"/>
                        </a:spcBef>
                        <a:spcAft>
                          <a:spcPts val="0"/>
                        </a:spcAft>
                        <a:buNone/>
                      </a:pPr>
                      <a:r>
                        <a:rPr lang="en" sz="1200"/>
                        <a:t>64</a:t>
                      </a:r>
                      <a:endParaRPr sz="1200"/>
                    </a:p>
                  </a:txBody>
                  <a:tcPr marT="91425" marB="91425" marR="91425" marL="91425"/>
                </a:tc>
                <a:tc>
                  <a:txBody>
                    <a:bodyPr/>
                    <a:lstStyle/>
                    <a:p>
                      <a:pPr indent="0" lvl="0" marL="0" rtl="0" algn="l">
                        <a:spcBef>
                          <a:spcPts val="0"/>
                        </a:spcBef>
                        <a:spcAft>
                          <a:spcPts val="0"/>
                        </a:spcAft>
                        <a:buNone/>
                      </a:pPr>
                      <a:r>
                        <a:t/>
                      </a:r>
                      <a:endParaRPr sz="1200"/>
                    </a:p>
                  </a:txBody>
                  <a:tcPr marT="91425" marB="91425" marR="91425" marL="91425"/>
                </a:tc>
                <a:tc>
                  <a:txBody>
                    <a:bodyPr/>
                    <a:lstStyle/>
                    <a:p>
                      <a:pPr indent="0" lvl="0" marL="0" rtl="0" algn="l">
                        <a:spcBef>
                          <a:spcPts val="0"/>
                        </a:spcBef>
                        <a:spcAft>
                          <a:spcPts val="0"/>
                        </a:spcAft>
                        <a:buNone/>
                      </a:pPr>
                      <a:r>
                        <a:rPr lang="en" sz="900"/>
                        <a:t>Goldstein, H., Rasbash, J., et al. (1993). A multilevel analysis of school examination results. Oxford Review of Education, 19, 425–433</a:t>
                      </a:r>
                      <a:endParaRPr sz="900"/>
                    </a:p>
                  </a:txBody>
                  <a:tcPr marT="91425" marB="91425" marR="91425" marL="91425"/>
                </a:tc>
              </a:tr>
              <a:tr h="381000">
                <a:tc>
                  <a:txBody>
                    <a:bodyPr/>
                    <a:lstStyle/>
                    <a:p>
                      <a:pPr indent="0" lvl="0" marL="0" rtl="0" algn="l">
                        <a:spcBef>
                          <a:spcPts val="0"/>
                        </a:spcBef>
                        <a:spcAft>
                          <a:spcPts val="0"/>
                        </a:spcAft>
                        <a:buNone/>
                      </a:pPr>
                      <a:r>
                        <a:rPr lang="en" sz="1200"/>
                        <a:t>rdatasets_dietox</a:t>
                      </a:r>
                      <a:endParaRPr sz="1200"/>
                    </a:p>
                  </a:txBody>
                  <a:tcPr marT="91425" marB="91425" marR="91425" marL="91425"/>
                </a:tc>
                <a:tc>
                  <a:txBody>
                    <a:bodyPr/>
                    <a:lstStyle/>
                    <a:p>
                      <a:pPr indent="0" lvl="0" marL="0" rtl="0" algn="l">
                        <a:spcBef>
                          <a:spcPts val="0"/>
                        </a:spcBef>
                        <a:spcAft>
                          <a:spcPts val="0"/>
                        </a:spcAft>
                        <a:buNone/>
                      </a:pPr>
                      <a:r>
                        <a:rPr lang="en" sz="1200"/>
                        <a:t>861</a:t>
                      </a:r>
                      <a:endParaRPr sz="1200"/>
                    </a:p>
                  </a:txBody>
                  <a:tcPr marT="91425" marB="91425" marR="91425" marL="91425"/>
                </a:tc>
                <a:tc>
                  <a:txBody>
                    <a:bodyPr/>
                    <a:lstStyle/>
                    <a:p>
                      <a:pPr indent="0" lvl="0" marL="0" rtl="0" algn="l">
                        <a:spcBef>
                          <a:spcPts val="0"/>
                        </a:spcBef>
                        <a:spcAft>
                          <a:spcPts val="0"/>
                        </a:spcAft>
                        <a:buNone/>
                      </a:pPr>
                      <a:r>
                        <a:rPr lang="en" sz="1200"/>
                        <a:t>6</a:t>
                      </a:r>
                      <a:endParaRPr sz="1200"/>
                    </a:p>
                  </a:txBody>
                  <a:tcPr marT="91425" marB="91425" marR="91425" marL="91425"/>
                </a:tc>
                <a:tc>
                  <a:txBody>
                    <a:bodyPr/>
                    <a:lstStyle/>
                    <a:p>
                      <a:pPr indent="0" lvl="0" marL="0" rtl="0" algn="l">
                        <a:spcBef>
                          <a:spcPts val="0"/>
                        </a:spcBef>
                        <a:spcAft>
                          <a:spcPts val="0"/>
                        </a:spcAft>
                        <a:buNone/>
                      </a:pPr>
                      <a:r>
                        <a:rPr lang="en" sz="1200"/>
                        <a:t>72</a:t>
                      </a:r>
                      <a:endParaRPr sz="1200"/>
                    </a:p>
                  </a:txBody>
                  <a:tcPr marT="91425" marB="91425" marR="91425" marL="91425"/>
                </a:tc>
                <a:tc>
                  <a:txBody>
                    <a:bodyPr/>
                    <a:lstStyle/>
                    <a:p>
                      <a:pPr indent="0" lvl="0" marL="0" rtl="0" algn="l">
                        <a:spcBef>
                          <a:spcPts val="0"/>
                        </a:spcBef>
                        <a:spcAft>
                          <a:spcPts val="0"/>
                        </a:spcAft>
                        <a:buNone/>
                      </a:pPr>
                      <a:r>
                        <a:t/>
                      </a:r>
                      <a:endParaRPr sz="1200"/>
                    </a:p>
                  </a:txBody>
                  <a:tcPr marT="91425" marB="91425" marR="91425" marL="91425"/>
                </a:tc>
                <a:tc>
                  <a:txBody>
                    <a:bodyPr/>
                    <a:lstStyle/>
                    <a:p>
                      <a:pPr indent="0" lvl="0" marL="0" rtl="0" algn="l">
                        <a:spcBef>
                          <a:spcPts val="0"/>
                        </a:spcBef>
                        <a:spcAft>
                          <a:spcPts val="0"/>
                        </a:spcAft>
                        <a:buNone/>
                      </a:pPr>
                      <a:r>
                        <a:rPr lang="en" sz="900"/>
                        <a:t>Lauridsen, C., Højsgaard, S., &amp; Sørensen, M. T. C. (1999). Influence of dietary rapeseed oil, vitamin E, and copper on pigs. Journal of Animal Science, 77, 906–916</a:t>
                      </a:r>
                      <a:endParaRPr sz="900"/>
                    </a:p>
                  </a:txBody>
                  <a:tcPr marT="91425" marB="91425" marR="91425" marL="91425"/>
                </a:tc>
              </a:tr>
              <a:tr h="381000">
                <a:tc>
                  <a:txBody>
                    <a:bodyPr/>
                    <a:lstStyle/>
                    <a:p>
                      <a:pPr indent="0" lvl="0" marL="0" rtl="0" algn="l">
                        <a:spcBef>
                          <a:spcPts val="0"/>
                        </a:spcBef>
                        <a:spcAft>
                          <a:spcPts val="0"/>
                        </a:spcAft>
                        <a:buNone/>
                      </a:pPr>
                      <a:r>
                        <a:rPr lang="en" sz="1200"/>
                        <a:t>rdatasets_crime4</a:t>
                      </a:r>
                      <a:endParaRPr sz="120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1200">
                          <a:solidFill>
                            <a:schemeClr val="dk1"/>
                          </a:solidFill>
                        </a:rPr>
                        <a:t>630</a:t>
                      </a:r>
                      <a:endParaRPr sz="1200"/>
                    </a:p>
                  </a:txBody>
                  <a:tcPr marT="91425" marB="91425" marR="91425" marL="91425"/>
                </a:tc>
                <a:tc>
                  <a:txBody>
                    <a:bodyPr/>
                    <a:lstStyle/>
                    <a:p>
                      <a:pPr indent="0" lvl="0" marL="0" rtl="0" algn="l">
                        <a:spcBef>
                          <a:spcPts val="0"/>
                        </a:spcBef>
                        <a:spcAft>
                          <a:spcPts val="0"/>
                        </a:spcAft>
                        <a:buNone/>
                      </a:pPr>
                      <a:r>
                        <a:rPr lang="en" sz="1200"/>
                        <a:t>57</a:t>
                      </a:r>
                      <a:endParaRPr sz="1200"/>
                    </a:p>
                  </a:txBody>
                  <a:tcPr marT="91425" marB="91425" marR="91425" marL="91425"/>
                </a:tc>
                <a:tc>
                  <a:txBody>
                    <a:bodyPr/>
                    <a:lstStyle/>
                    <a:p>
                      <a:pPr indent="0" lvl="0" marL="0" rtl="0" algn="l">
                        <a:spcBef>
                          <a:spcPts val="0"/>
                        </a:spcBef>
                        <a:spcAft>
                          <a:spcPts val="0"/>
                        </a:spcAft>
                        <a:buNone/>
                      </a:pPr>
                      <a:r>
                        <a:rPr lang="en" sz="1200"/>
                        <a:t>90</a:t>
                      </a:r>
                      <a:endParaRPr sz="1200"/>
                    </a:p>
                  </a:txBody>
                  <a:tcPr marT="91425" marB="91425" marR="91425" marL="91425"/>
                </a:tc>
                <a:tc>
                  <a:txBody>
                    <a:bodyPr/>
                    <a:lstStyle/>
                    <a:p>
                      <a:pPr indent="0" lvl="0" marL="0" rtl="0" algn="l">
                        <a:spcBef>
                          <a:spcPts val="0"/>
                        </a:spcBef>
                        <a:spcAft>
                          <a:spcPts val="0"/>
                        </a:spcAft>
                        <a:buNone/>
                      </a:pPr>
                      <a:r>
                        <a:t/>
                      </a:r>
                      <a:endParaRPr sz="1200"/>
                    </a:p>
                  </a:txBody>
                  <a:tcPr marT="91425" marB="91425" marR="91425" marL="91425"/>
                </a:tc>
                <a:tc>
                  <a:txBody>
                    <a:bodyPr/>
                    <a:lstStyle/>
                    <a:p>
                      <a:pPr indent="0" lvl="0" marL="0" rtl="0" algn="l">
                        <a:spcBef>
                          <a:spcPts val="0"/>
                        </a:spcBef>
                        <a:spcAft>
                          <a:spcPts val="0"/>
                        </a:spcAft>
                        <a:buNone/>
                      </a:pPr>
                      <a:r>
                        <a:rPr lang="en" sz="900"/>
                        <a:t>Cornwell, C., &amp; Trumbull, W. N. (1994). Estimating the economic model of crime with panel data. Review of Economics and Statistics, 76, 360–366.</a:t>
                      </a:r>
                      <a:endParaRPr sz="900"/>
                    </a:p>
                  </a:txBody>
                  <a:tcPr marT="91425" marB="91425" marR="91425" marL="91425"/>
                </a:tc>
              </a:tr>
              <a:tr h="381000">
                <a:tc>
                  <a:txBody>
                    <a:bodyPr/>
                    <a:lstStyle/>
                    <a:p>
                      <a:pPr indent="0" lvl="0" marL="0" rtl="0" algn="l">
                        <a:spcBef>
                          <a:spcPts val="0"/>
                        </a:spcBef>
                        <a:spcAft>
                          <a:spcPts val="0"/>
                        </a:spcAft>
                        <a:buNone/>
                      </a:pPr>
                      <a:r>
                        <a:rPr lang="en" sz="1200"/>
                        <a:t>electricity_load</a:t>
                      </a:r>
                      <a:endParaRPr sz="1200"/>
                    </a:p>
                  </a:txBody>
                  <a:tcPr marT="91425" marB="91425" marR="91425" marL="91425"/>
                </a:tc>
                <a:tc>
                  <a:txBody>
                    <a:bodyPr/>
                    <a:lstStyle/>
                    <a:p>
                      <a:pPr indent="0" lvl="0" marL="0" rtl="0" algn="l">
                        <a:spcBef>
                          <a:spcPts val="0"/>
                        </a:spcBef>
                        <a:spcAft>
                          <a:spcPts val="0"/>
                        </a:spcAft>
                        <a:buNone/>
                      </a:pPr>
                      <a:r>
                        <a:rPr lang="en" sz="1200"/>
                        <a:t>200000</a:t>
                      </a:r>
                      <a:endParaRPr sz="1200"/>
                    </a:p>
                  </a:txBody>
                  <a:tcPr marT="91425" marB="91425" marR="91425" marL="91425"/>
                </a:tc>
                <a:tc>
                  <a:txBody>
                    <a:bodyPr/>
                    <a:lstStyle/>
                    <a:p>
                      <a:pPr indent="0" lvl="0" marL="0" rtl="0" algn="l">
                        <a:spcBef>
                          <a:spcPts val="0"/>
                        </a:spcBef>
                        <a:spcAft>
                          <a:spcPts val="0"/>
                        </a:spcAft>
                        <a:buNone/>
                      </a:pPr>
                      <a:r>
                        <a:rPr lang="en" sz="1200"/>
                        <a:t>3</a:t>
                      </a:r>
                      <a:endParaRPr sz="1200"/>
                    </a:p>
                  </a:txBody>
                  <a:tcPr marT="91425" marB="91425" marR="91425" marL="91425"/>
                </a:tc>
                <a:tc>
                  <a:txBody>
                    <a:bodyPr/>
                    <a:lstStyle/>
                    <a:p>
                      <a:pPr indent="0" lvl="0" marL="0" rtl="0" algn="l">
                        <a:spcBef>
                          <a:spcPts val="0"/>
                        </a:spcBef>
                        <a:spcAft>
                          <a:spcPts val="0"/>
                        </a:spcAft>
                        <a:buNone/>
                      </a:pPr>
                      <a:r>
                        <a:rPr lang="en" sz="1200"/>
                        <a:t>120</a:t>
                      </a:r>
                      <a:endParaRPr sz="1200"/>
                    </a:p>
                  </a:txBody>
                  <a:tcPr marT="91425" marB="91425" marR="91425" marL="91425"/>
                </a:tc>
                <a:tc>
                  <a:txBody>
                    <a:bodyPr/>
                    <a:lstStyle/>
                    <a:p>
                      <a:pPr indent="0" lvl="0" marL="0" rtl="0" algn="l">
                        <a:spcBef>
                          <a:spcPts val="0"/>
                        </a:spcBef>
                        <a:spcAft>
                          <a:spcPts val="0"/>
                        </a:spcAft>
                        <a:buNone/>
                      </a:pPr>
                      <a:r>
                        <a:t/>
                      </a:r>
                      <a:endParaRPr sz="1200"/>
                    </a:p>
                  </a:txBody>
                  <a:tcPr marT="91425" marB="91425" marR="91425" marL="91425"/>
                </a:tc>
                <a:tc>
                  <a:txBody>
                    <a:bodyPr/>
                    <a:lstStyle/>
                    <a:p>
                      <a:pPr indent="0" lvl="0" marL="0" rtl="0" algn="l">
                        <a:spcBef>
                          <a:spcPts val="0"/>
                        </a:spcBef>
                        <a:spcAft>
                          <a:spcPts val="0"/>
                        </a:spcAft>
                        <a:buNone/>
                      </a:pPr>
                      <a:r>
                        <a:rPr lang="en" sz="900"/>
                        <a:t>T</a:t>
                      </a:r>
                      <a:r>
                        <a:rPr lang="en" sz="900"/>
                        <a:t>rindade, A. (2015). UCI ML Repository. https://doi.org/10.24432/C58C86</a:t>
                      </a:r>
                      <a:endParaRPr sz="900"/>
                    </a:p>
                  </a:txBody>
                  <a:tcPr marT="91425" marB="91425" marR="91425" marL="91425"/>
                </a:tc>
              </a:tr>
              <a:tr h="381000">
                <a:tc>
                  <a:txBody>
                    <a:bodyPr/>
                    <a:lstStyle/>
                    <a:p>
                      <a:pPr indent="0" lvl="0" marL="0" rtl="0" algn="l">
                        <a:spcBef>
                          <a:spcPts val="0"/>
                        </a:spcBef>
                        <a:spcAft>
                          <a:spcPts val="0"/>
                        </a:spcAft>
                        <a:buNone/>
                      </a:pPr>
                      <a:r>
                        <a:rPr lang="en" sz="1200"/>
                        <a:t>rdatasets_empluk</a:t>
                      </a:r>
                      <a:endParaRPr sz="1200"/>
                    </a:p>
                  </a:txBody>
                  <a:tcPr marT="91425" marB="91425" marR="91425" marL="91425"/>
                </a:tc>
                <a:tc>
                  <a:txBody>
                    <a:bodyPr/>
                    <a:lstStyle/>
                    <a:p>
                      <a:pPr indent="0" lvl="0" marL="0" rtl="0" algn="l">
                        <a:spcBef>
                          <a:spcPts val="0"/>
                        </a:spcBef>
                        <a:spcAft>
                          <a:spcPts val="0"/>
                        </a:spcAft>
                        <a:buNone/>
                      </a:pPr>
                      <a:r>
                        <a:rPr lang="en" sz="1200"/>
                        <a:t>1031</a:t>
                      </a:r>
                      <a:endParaRPr sz="1200"/>
                    </a:p>
                  </a:txBody>
                  <a:tcPr marT="91425" marB="91425" marR="91425" marL="91425"/>
                </a:tc>
                <a:tc>
                  <a:txBody>
                    <a:bodyPr/>
                    <a:lstStyle/>
                    <a:p>
                      <a:pPr indent="0" lvl="0" marL="0" rtl="0" algn="l">
                        <a:spcBef>
                          <a:spcPts val="0"/>
                        </a:spcBef>
                        <a:spcAft>
                          <a:spcPts val="0"/>
                        </a:spcAft>
                        <a:buNone/>
                      </a:pPr>
                      <a:r>
                        <a:rPr lang="en" sz="1200"/>
                        <a:t>5</a:t>
                      </a:r>
                      <a:endParaRPr sz="1200"/>
                    </a:p>
                  </a:txBody>
                  <a:tcPr marT="91425" marB="91425" marR="91425" marL="91425"/>
                </a:tc>
                <a:tc>
                  <a:txBody>
                    <a:bodyPr/>
                    <a:lstStyle/>
                    <a:p>
                      <a:pPr indent="0" lvl="0" marL="0" rtl="0" algn="l">
                        <a:spcBef>
                          <a:spcPts val="0"/>
                        </a:spcBef>
                        <a:spcAft>
                          <a:spcPts val="0"/>
                        </a:spcAft>
                        <a:buNone/>
                      </a:pPr>
                      <a:r>
                        <a:rPr lang="en" sz="1200"/>
                        <a:t>140</a:t>
                      </a:r>
                      <a:endParaRPr sz="1200"/>
                    </a:p>
                  </a:txBody>
                  <a:tcPr marT="91425" marB="91425" marR="91425" marL="91425"/>
                </a:tc>
                <a:tc>
                  <a:txBody>
                    <a:bodyPr/>
                    <a:lstStyle/>
                    <a:p>
                      <a:pPr indent="0" lvl="0" marL="0" rtl="0" algn="l">
                        <a:spcBef>
                          <a:spcPts val="0"/>
                        </a:spcBef>
                        <a:spcAft>
                          <a:spcPts val="0"/>
                        </a:spcAft>
                        <a:buNone/>
                      </a:pPr>
                      <a:r>
                        <a:t/>
                      </a:r>
                      <a:endParaRPr sz="1200"/>
                    </a:p>
                  </a:txBody>
                  <a:tcPr marT="91425" marB="91425" marR="91425" marL="91425"/>
                </a:tc>
                <a:tc>
                  <a:txBody>
                    <a:bodyPr/>
                    <a:lstStyle/>
                    <a:p>
                      <a:pPr indent="0" lvl="0" marL="0" rtl="0" algn="l">
                        <a:spcBef>
                          <a:spcPts val="0"/>
                        </a:spcBef>
                        <a:spcAft>
                          <a:spcPts val="0"/>
                        </a:spcAft>
                        <a:buNone/>
                      </a:pPr>
                      <a:r>
                        <a:rPr lang="en" sz="900"/>
                        <a:t>Arellano, M., &amp; Bond, S. (1991). Some tests of specification for panel data. Review of Economic Studies, 58, 277–297.</a:t>
                      </a:r>
                      <a:endParaRPr sz="900"/>
                    </a:p>
                  </a:txBody>
                  <a:tcPr marT="91425" marB="91425" marR="91425" marL="91425"/>
                </a:tc>
              </a:tr>
              <a:tr h="381000">
                <a:tc>
                  <a:txBody>
                    <a:bodyPr/>
                    <a:lstStyle/>
                    <a:p>
                      <a:pPr indent="0" lvl="0" marL="0" rtl="0" algn="l">
                        <a:spcBef>
                          <a:spcPts val="0"/>
                        </a:spcBef>
                        <a:spcAft>
                          <a:spcPts val="0"/>
                        </a:spcAft>
                        <a:buNone/>
                      </a:pPr>
                      <a:r>
                        <a:rPr lang="en" sz="1200"/>
                        <a:t>school_ilea</a:t>
                      </a:r>
                      <a:endParaRPr sz="1200"/>
                    </a:p>
                  </a:txBody>
                  <a:tcPr marT="91425" marB="91425" marR="91425" marL="91425"/>
                </a:tc>
                <a:tc>
                  <a:txBody>
                    <a:bodyPr/>
                    <a:lstStyle/>
                    <a:p>
                      <a:pPr indent="0" lvl="0" marL="0" rtl="0" algn="l">
                        <a:spcBef>
                          <a:spcPts val="0"/>
                        </a:spcBef>
                        <a:spcAft>
                          <a:spcPts val="0"/>
                        </a:spcAft>
                        <a:buNone/>
                      </a:pPr>
                      <a:r>
                        <a:rPr lang="en" sz="1200"/>
                        <a:t>7185</a:t>
                      </a:r>
                      <a:endParaRPr sz="1200"/>
                    </a:p>
                  </a:txBody>
                  <a:tcPr marT="91425" marB="91425" marR="91425" marL="91425"/>
                </a:tc>
                <a:tc>
                  <a:txBody>
                    <a:bodyPr/>
                    <a:lstStyle/>
                    <a:p>
                      <a:pPr indent="0" lvl="0" marL="0" rtl="0" algn="l">
                        <a:spcBef>
                          <a:spcPts val="0"/>
                        </a:spcBef>
                        <a:spcAft>
                          <a:spcPts val="0"/>
                        </a:spcAft>
                        <a:buNone/>
                      </a:pPr>
                      <a:r>
                        <a:rPr lang="en" sz="1200"/>
                        <a:t>10</a:t>
                      </a:r>
                      <a:endParaRPr sz="1200"/>
                    </a:p>
                  </a:txBody>
                  <a:tcPr marT="91425" marB="91425" marR="91425" marL="91425"/>
                </a:tc>
                <a:tc>
                  <a:txBody>
                    <a:bodyPr/>
                    <a:lstStyle/>
                    <a:p>
                      <a:pPr indent="0" lvl="0" marL="0" rtl="0" algn="l">
                        <a:spcBef>
                          <a:spcPts val="0"/>
                        </a:spcBef>
                        <a:spcAft>
                          <a:spcPts val="0"/>
                        </a:spcAft>
                        <a:buNone/>
                      </a:pPr>
                      <a:r>
                        <a:rPr lang="en" sz="1200"/>
                        <a:t>160</a:t>
                      </a:r>
                      <a:endParaRPr sz="1200"/>
                    </a:p>
                  </a:txBody>
                  <a:tcPr marT="91425" marB="91425" marR="91425" marL="91425"/>
                </a:tc>
                <a:tc>
                  <a:txBody>
                    <a:bodyPr/>
                    <a:lstStyle/>
                    <a:p>
                      <a:pPr indent="0" lvl="0" marL="0" rtl="0" algn="l">
                        <a:spcBef>
                          <a:spcPts val="0"/>
                        </a:spcBef>
                        <a:spcAft>
                          <a:spcPts val="0"/>
                        </a:spcAft>
                        <a:buNone/>
                      </a:pPr>
                      <a:r>
                        <a:t/>
                      </a:r>
                      <a:endParaRPr sz="1200"/>
                    </a:p>
                  </a:txBody>
                  <a:tcPr marT="91425" marB="91425" marR="91425" marL="91425"/>
                </a:tc>
                <a:tc>
                  <a:txBody>
                    <a:bodyPr/>
                    <a:lstStyle/>
                    <a:p>
                      <a:pPr indent="0" lvl="0" marL="0" rtl="0" algn="l">
                        <a:spcBef>
                          <a:spcPts val="0"/>
                        </a:spcBef>
                        <a:spcAft>
                          <a:spcPts val="0"/>
                        </a:spcAft>
                        <a:buNone/>
                      </a:pPr>
                      <a:r>
                        <a:rPr lang="en" sz="900"/>
                        <a:t>Pinheiro, J., Bates, D., &amp; R Core Team. (2025). nlme (R package). </a:t>
                      </a:r>
                      <a:endParaRPr sz="900"/>
                    </a:p>
                  </a:txBody>
                  <a:tcPr marT="91425" marB="91425" marR="91425" marL="91425"/>
                </a:tc>
              </a:tr>
            </a:tbl>
          </a:graphicData>
        </a:graphic>
      </p:graphicFrame>
      <p:sp>
        <p:nvSpPr>
          <p:cNvPr id="158" name="Google Shape;158;p31"/>
          <p:cNvSpPr txBox="1"/>
          <p:nvPr/>
        </p:nvSpPr>
        <p:spPr>
          <a:xfrm>
            <a:off x="953850" y="234800"/>
            <a:ext cx="6963300" cy="35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Real Grouped Regression Benchmark Datasets</a:t>
            </a:r>
            <a:endParaRPr sz="18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2"/>
          <p:cNvSpPr txBox="1"/>
          <p:nvPr/>
        </p:nvSpPr>
        <p:spPr>
          <a:xfrm>
            <a:off x="256675" y="177700"/>
            <a:ext cx="8520000" cy="468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800">
                <a:solidFill>
                  <a:schemeClr val="dk1"/>
                </a:solidFill>
              </a:rPr>
              <a:t>Experimental Setup</a:t>
            </a:r>
            <a:endParaRPr b="1" sz="1800">
              <a:solidFill>
                <a:schemeClr val="dk1"/>
              </a:solidFill>
            </a:endParaRPr>
          </a:p>
          <a:p>
            <a:pPr indent="0" lvl="0" marL="0" rtl="0" algn="l">
              <a:spcBef>
                <a:spcPts val="0"/>
              </a:spcBef>
              <a:spcAft>
                <a:spcPts val="0"/>
              </a:spcAft>
              <a:buClr>
                <a:schemeClr val="dk1"/>
              </a:buClr>
              <a:buSzPts val="1100"/>
              <a:buFont typeface="Arial"/>
              <a:buNone/>
            </a:pPr>
            <a:r>
              <a:t/>
            </a:r>
            <a:endParaRPr sz="1800">
              <a:solidFill>
                <a:schemeClr val="dk1"/>
              </a:solidFill>
            </a:endParaRPr>
          </a:p>
          <a:p>
            <a:pPr indent="0" lvl="0" marL="0" rtl="0" algn="l">
              <a:spcBef>
                <a:spcPts val="0"/>
              </a:spcBef>
              <a:spcAft>
                <a:spcPts val="0"/>
              </a:spcAft>
              <a:buClr>
                <a:schemeClr val="dk1"/>
              </a:buClr>
              <a:buSzPts val="1100"/>
              <a:buFont typeface="Arial"/>
              <a:buNone/>
            </a:pPr>
            <a:r>
              <a:rPr b="1" lang="en" sz="1800">
                <a:solidFill>
                  <a:schemeClr val="dk1"/>
                </a:solidFill>
              </a:rPr>
              <a:t>S</a:t>
            </a:r>
            <a:r>
              <a:rPr b="1" lang="en" sz="1800">
                <a:solidFill>
                  <a:schemeClr val="dk1"/>
                </a:solidFill>
              </a:rPr>
              <a:t>parse Graph:</a:t>
            </a:r>
            <a:r>
              <a:rPr lang="en" sz="1800">
                <a:solidFill>
                  <a:schemeClr val="dk1"/>
                </a:solidFill>
              </a:rPr>
              <a:t> </a:t>
            </a:r>
            <a:r>
              <a:rPr lang="en" sz="1800">
                <a:solidFill>
                  <a:schemeClr val="dk1"/>
                </a:solidFill>
              </a:rPr>
              <a:t>Normally, graphs are set using a pre-determined information (priori). In our set-up, we adapted the k-NN initial sparse graph (Idea taken from Hallac et al. 2015 and Padilla et al. 2020) as a data-driven way to build the initial graph. Implementation builds k-NN from group centroids on training data and uses the inverse distance for the 5 closest neighbors (other group centroids), then we symmetrize the output.</a:t>
            </a:r>
            <a:endParaRPr sz="1800">
              <a:solidFill>
                <a:schemeClr val="dk1"/>
              </a:solidFill>
            </a:endParaRPr>
          </a:p>
          <a:p>
            <a:pPr indent="0" lvl="0" marL="0" rtl="0" algn="l">
              <a:spcBef>
                <a:spcPts val="0"/>
              </a:spcBef>
              <a:spcAft>
                <a:spcPts val="0"/>
              </a:spcAft>
              <a:buClr>
                <a:schemeClr val="dk1"/>
              </a:buClr>
              <a:buSzPts val="1100"/>
              <a:buFont typeface="Arial"/>
              <a:buNone/>
            </a:pPr>
            <a:r>
              <a:t/>
            </a:r>
            <a:endParaRPr sz="1800">
              <a:solidFill>
                <a:schemeClr val="dk1"/>
              </a:solidFill>
            </a:endParaRPr>
          </a:p>
          <a:p>
            <a:pPr indent="0" lvl="0" marL="0" rtl="0" algn="l">
              <a:spcBef>
                <a:spcPts val="0"/>
              </a:spcBef>
              <a:spcAft>
                <a:spcPts val="0"/>
              </a:spcAft>
              <a:buClr>
                <a:schemeClr val="dk1"/>
              </a:buClr>
              <a:buSzPts val="1100"/>
              <a:buFont typeface="Arial"/>
              <a:buNone/>
            </a:pPr>
            <a:r>
              <a:rPr b="1" lang="en" sz="1800">
                <a:solidFill>
                  <a:schemeClr val="dk1"/>
                </a:solidFill>
              </a:rPr>
              <a:t>Hyper-param Tuning</a:t>
            </a:r>
            <a:r>
              <a:rPr b="1" lang="en" sz="1800">
                <a:solidFill>
                  <a:schemeClr val="dk1"/>
                </a:solidFill>
              </a:rPr>
              <a:t>: </a:t>
            </a:r>
            <a:r>
              <a:rPr lang="en" sz="1800">
                <a:solidFill>
                  <a:schemeClr val="dk1"/>
                </a:solidFill>
              </a:rPr>
              <a:t>We warm start the lambda using cv.glmnet then we use that to tune the gamma using 3-Fold CV.</a:t>
            </a:r>
            <a:br>
              <a:rPr lang="en" sz="1800">
                <a:solidFill>
                  <a:schemeClr val="dk1"/>
                </a:solidFill>
              </a:rPr>
            </a:br>
            <a:endParaRPr sz="1800">
              <a:solidFill>
                <a:schemeClr val="dk1"/>
              </a:solidFill>
            </a:endParaRPr>
          </a:p>
          <a:p>
            <a:pPr indent="0" lvl="0" marL="0" rtl="0" algn="l">
              <a:spcBef>
                <a:spcPts val="0"/>
              </a:spcBef>
              <a:spcAft>
                <a:spcPts val="0"/>
              </a:spcAft>
              <a:buClr>
                <a:schemeClr val="dk1"/>
              </a:buClr>
              <a:buSzPts val="1100"/>
              <a:buFont typeface="Arial"/>
              <a:buNone/>
            </a:pPr>
            <a:r>
              <a:rPr b="1" lang="en" sz="1800">
                <a:solidFill>
                  <a:schemeClr val="dk1"/>
                </a:solidFill>
              </a:rPr>
              <a:t>Metrics:</a:t>
            </a:r>
            <a:r>
              <a:rPr lang="en" sz="1800">
                <a:solidFill>
                  <a:schemeClr val="dk1"/>
                </a:solidFill>
              </a:rPr>
              <a:t> 5 fold CV RMSE, wall time (fit stage elapsed time), peak RSS (fit worker peak RSS).</a:t>
            </a:r>
            <a:br>
              <a:rPr lang="en" sz="1800">
                <a:solidFill>
                  <a:schemeClr val="dk1"/>
                </a:solidFill>
              </a:rPr>
            </a:br>
            <a:endParaRPr sz="1800">
              <a:solidFill>
                <a:schemeClr val="dk1"/>
              </a:solidFill>
            </a:endParaRPr>
          </a:p>
          <a:p>
            <a:pPr indent="0" lvl="0" marL="0" rtl="0" algn="l">
              <a:spcBef>
                <a:spcPts val="0"/>
              </a:spcBef>
              <a:spcAft>
                <a:spcPts val="0"/>
              </a:spcAft>
              <a:buClr>
                <a:schemeClr val="dk1"/>
              </a:buClr>
              <a:buSzPts val="1100"/>
              <a:buFont typeface="Arial"/>
              <a:buNone/>
            </a:pPr>
            <a:r>
              <a:rPr b="1" lang="en" sz="1800">
                <a:solidFill>
                  <a:schemeClr val="dk1"/>
                </a:solidFill>
              </a:rPr>
              <a:t>Environment</a:t>
            </a:r>
            <a:r>
              <a:rPr b="1" lang="en" sz="1800">
                <a:solidFill>
                  <a:schemeClr val="dk1"/>
                </a:solidFill>
              </a:rPr>
              <a:t>:</a:t>
            </a:r>
            <a:r>
              <a:rPr lang="en" sz="1800">
                <a:solidFill>
                  <a:schemeClr val="dk1"/>
                </a:solidFill>
              </a:rPr>
              <a:t> Monsoon, R</a:t>
            </a:r>
            <a:endParaRPr sz="1800">
              <a:solidFill>
                <a:schemeClr val="dk1"/>
              </a:solidFill>
            </a:endParaRPr>
          </a:p>
          <a:p>
            <a:pPr indent="0" lvl="0" marL="0" rtl="0" algn="l">
              <a:spcBef>
                <a:spcPts val="0"/>
              </a:spcBef>
              <a:spcAft>
                <a:spcPts val="0"/>
              </a:spcAft>
              <a:buNone/>
            </a:pPr>
            <a:r>
              <a:t/>
            </a:r>
            <a:endParaRPr sz="18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3"/>
          <p:cNvSpPr txBox="1"/>
          <p:nvPr/>
        </p:nvSpPr>
        <p:spPr>
          <a:xfrm>
            <a:off x="953850" y="134537"/>
            <a:ext cx="6963300" cy="35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L1 RMSE Test Error Experiment</a:t>
            </a:r>
            <a:endParaRPr b="1" sz="1800">
              <a:solidFill>
                <a:schemeClr val="dk1"/>
              </a:solidFill>
            </a:endParaRPr>
          </a:p>
        </p:txBody>
      </p:sp>
      <p:pic>
        <p:nvPicPr>
          <p:cNvPr id="169" name="Google Shape;169;p33" title="hpc_figure5_combined_k_regimes.png"/>
          <p:cNvPicPr preferRelativeResize="0"/>
          <p:nvPr/>
        </p:nvPicPr>
        <p:blipFill>
          <a:blip r:embed="rId3">
            <a:alphaModFix/>
          </a:blip>
          <a:stretch>
            <a:fillRect/>
          </a:stretch>
        </p:blipFill>
        <p:spPr>
          <a:xfrm>
            <a:off x="152400" y="651358"/>
            <a:ext cx="7089101" cy="3118800"/>
          </a:xfrm>
          <a:prstGeom prst="rect">
            <a:avLst/>
          </a:prstGeom>
          <a:noFill/>
          <a:ln>
            <a:noFill/>
          </a:ln>
        </p:spPr>
      </p:pic>
      <p:sp>
        <p:nvSpPr>
          <p:cNvPr id="170" name="Google Shape;170;p33"/>
          <p:cNvSpPr txBox="1"/>
          <p:nvPr/>
        </p:nvSpPr>
        <p:spPr>
          <a:xfrm>
            <a:off x="232500" y="3990000"/>
            <a:ext cx="8692500" cy="86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Given the same budget and same hyper-param tuning strategy, are our proposed L1 methods similar to the legacy full edge in prediction.</a:t>
            </a:r>
            <a:endParaRPr sz="1800">
              <a:solidFill>
                <a:schemeClr val="dk1"/>
              </a:solidFill>
            </a:endParaRPr>
          </a:p>
        </p:txBody>
      </p:sp>
      <p:sp>
        <p:nvSpPr>
          <p:cNvPr id="171" name="Google Shape;171;p33"/>
          <p:cNvSpPr txBox="1"/>
          <p:nvPr/>
        </p:nvSpPr>
        <p:spPr>
          <a:xfrm>
            <a:off x="7718575" y="1643525"/>
            <a:ext cx="1290600" cy="130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&gt;= 100, get rid of it</a:t>
            </a:r>
            <a:endParaRPr sz="1800">
              <a:solidFill>
                <a:schemeClr val="dk2"/>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4"/>
          <p:cNvSpPr txBox="1"/>
          <p:nvPr/>
        </p:nvSpPr>
        <p:spPr>
          <a:xfrm>
            <a:off x="953850" y="234800"/>
            <a:ext cx="6963300" cy="35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L1 Timing Experiment</a:t>
            </a:r>
            <a:endParaRPr b="1" sz="1800">
              <a:solidFill>
                <a:schemeClr val="dk1"/>
              </a:solidFill>
            </a:endParaRPr>
          </a:p>
        </p:txBody>
      </p:sp>
      <p:pic>
        <p:nvPicPr>
          <p:cNvPr id="177" name="Google Shape;177;p34" title="hpc_l1_timing_boxplot_combined_k_regimes.png"/>
          <p:cNvPicPr preferRelativeResize="0"/>
          <p:nvPr/>
        </p:nvPicPr>
        <p:blipFill>
          <a:blip r:embed="rId3">
            <a:alphaModFix/>
          </a:blip>
          <a:stretch>
            <a:fillRect/>
          </a:stretch>
        </p:blipFill>
        <p:spPr>
          <a:xfrm>
            <a:off x="330875" y="826075"/>
            <a:ext cx="6891628" cy="3031901"/>
          </a:xfrm>
          <a:prstGeom prst="rect">
            <a:avLst/>
          </a:prstGeom>
          <a:noFill/>
          <a:ln>
            <a:noFill/>
          </a:ln>
        </p:spPr>
      </p:pic>
      <p:sp>
        <p:nvSpPr>
          <p:cNvPr id="178" name="Google Shape;178;p34"/>
          <p:cNvSpPr txBox="1"/>
          <p:nvPr/>
        </p:nvSpPr>
        <p:spPr>
          <a:xfrm>
            <a:off x="165750" y="4089850"/>
            <a:ext cx="8692500" cy="86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Given that are our proposed L1 solvers are similar to the legacy full edge in terms of prediction, how much time do we save with them?</a:t>
            </a:r>
            <a:endParaRPr sz="1800">
              <a:solidFill>
                <a:schemeClr val="dk1"/>
              </a:solidFill>
            </a:endParaRPr>
          </a:p>
        </p:txBody>
      </p:sp>
      <p:sp>
        <p:nvSpPr>
          <p:cNvPr id="179" name="Google Shape;179;p34"/>
          <p:cNvSpPr txBox="1"/>
          <p:nvPr/>
        </p:nvSpPr>
        <p:spPr>
          <a:xfrm>
            <a:off x="7705275" y="1427250"/>
            <a:ext cx="1383900" cy="59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Same color</a:t>
            </a:r>
            <a:endParaRPr sz="1800">
              <a:solidFill>
                <a:schemeClr val="dk2"/>
              </a:solidFill>
            </a:endParaRPr>
          </a:p>
          <a:p>
            <a:pPr indent="0" lvl="0" marL="0" rtl="0" algn="l">
              <a:spcBef>
                <a:spcPts val="0"/>
              </a:spcBef>
              <a:spcAft>
                <a:spcPts val="0"/>
              </a:spcAft>
              <a:buNone/>
            </a:pPr>
            <a:r>
              <a:rPr lang="en" sz="1800">
                <a:solidFill>
                  <a:schemeClr val="dk2"/>
                </a:solidFill>
              </a:rPr>
              <a:t>log</a:t>
            </a:r>
            <a:endParaRPr sz="1800">
              <a:solidFill>
                <a:schemeClr val="dk2"/>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5"/>
          <p:cNvSpPr txBox="1"/>
          <p:nvPr/>
        </p:nvSpPr>
        <p:spPr>
          <a:xfrm>
            <a:off x="953850" y="234800"/>
            <a:ext cx="6963300" cy="35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L2 RMSE Test Error Experiment</a:t>
            </a:r>
            <a:endParaRPr b="1" sz="1800">
              <a:solidFill>
                <a:schemeClr val="dk1"/>
              </a:solidFill>
            </a:endParaRPr>
          </a:p>
        </p:txBody>
      </p:sp>
      <p:pic>
        <p:nvPicPr>
          <p:cNvPr id="185" name="Google Shape;185;p35" title="hpc_l2_figure5_combined_k_regimes.png"/>
          <p:cNvPicPr preferRelativeResize="0"/>
          <p:nvPr/>
        </p:nvPicPr>
        <p:blipFill>
          <a:blip r:embed="rId3">
            <a:alphaModFix/>
          </a:blip>
          <a:stretch>
            <a:fillRect/>
          </a:stretch>
        </p:blipFill>
        <p:spPr>
          <a:xfrm>
            <a:off x="152400" y="812700"/>
            <a:ext cx="6695101" cy="2945450"/>
          </a:xfrm>
          <a:prstGeom prst="rect">
            <a:avLst/>
          </a:prstGeom>
          <a:noFill/>
          <a:ln>
            <a:noFill/>
          </a:ln>
        </p:spPr>
      </p:pic>
      <p:sp>
        <p:nvSpPr>
          <p:cNvPr id="186" name="Google Shape;186;p35"/>
          <p:cNvSpPr txBox="1"/>
          <p:nvPr/>
        </p:nvSpPr>
        <p:spPr>
          <a:xfrm>
            <a:off x="232500" y="3990000"/>
            <a:ext cx="8692500" cy="86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Given the same budget and same hyper-param tuning strategy, is our proposed L2 method similar to the legacy full edge in prediction.</a:t>
            </a:r>
            <a:endParaRPr sz="180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6"/>
          <p:cNvSpPr txBox="1"/>
          <p:nvPr/>
        </p:nvSpPr>
        <p:spPr>
          <a:xfrm>
            <a:off x="953850" y="234800"/>
            <a:ext cx="6963300" cy="35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L2 Timing Experiment</a:t>
            </a:r>
            <a:endParaRPr b="1" sz="1800">
              <a:solidFill>
                <a:schemeClr val="dk1"/>
              </a:solidFill>
            </a:endParaRPr>
          </a:p>
        </p:txBody>
      </p:sp>
      <p:pic>
        <p:nvPicPr>
          <p:cNvPr id="192" name="Google Shape;192;p36" title="hpc_l2_timing_boxplot_combined_k_regimes.png"/>
          <p:cNvPicPr preferRelativeResize="0"/>
          <p:nvPr/>
        </p:nvPicPr>
        <p:blipFill rotWithShape="1">
          <a:blip r:embed="rId3">
            <a:alphaModFix/>
          </a:blip>
          <a:srcRect b="0" l="0" r="0" t="0"/>
          <a:stretch/>
        </p:blipFill>
        <p:spPr>
          <a:xfrm>
            <a:off x="152400" y="880200"/>
            <a:ext cx="6795924" cy="2989800"/>
          </a:xfrm>
          <a:prstGeom prst="rect">
            <a:avLst/>
          </a:prstGeom>
          <a:noFill/>
          <a:ln>
            <a:noFill/>
          </a:ln>
        </p:spPr>
      </p:pic>
      <p:sp>
        <p:nvSpPr>
          <p:cNvPr id="193" name="Google Shape;193;p36"/>
          <p:cNvSpPr txBox="1"/>
          <p:nvPr/>
        </p:nvSpPr>
        <p:spPr>
          <a:xfrm>
            <a:off x="165750" y="4089850"/>
            <a:ext cx="8692500" cy="86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Given that our proposed L1 method is the same as the legacy full edge in terms of prediction, how much time do we save with them?</a:t>
            </a:r>
            <a:endParaRPr sz="180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pic>
        <p:nvPicPr>
          <p:cNvPr id="198" name="Google Shape;198;p37" title="hpc_l1_efficiency_diff_vs_old_l1_operator.png"/>
          <p:cNvPicPr preferRelativeResize="0"/>
          <p:nvPr/>
        </p:nvPicPr>
        <p:blipFill>
          <a:blip r:embed="rId3">
            <a:alphaModFix/>
          </a:blip>
          <a:stretch>
            <a:fillRect/>
          </a:stretch>
        </p:blipFill>
        <p:spPr>
          <a:xfrm>
            <a:off x="152400" y="924300"/>
            <a:ext cx="4282500" cy="3682950"/>
          </a:xfrm>
          <a:prstGeom prst="rect">
            <a:avLst/>
          </a:prstGeom>
          <a:noFill/>
          <a:ln>
            <a:noFill/>
          </a:ln>
        </p:spPr>
      </p:pic>
      <p:pic>
        <p:nvPicPr>
          <p:cNvPr id="199" name="Google Shape;199;p37" title="hpc_l1_efficiency_diff_vs_old_l1_chain_specialized_full_plus4.png"/>
          <p:cNvPicPr preferRelativeResize="0"/>
          <p:nvPr/>
        </p:nvPicPr>
        <p:blipFill>
          <a:blip r:embed="rId4">
            <a:alphaModFix/>
          </a:blip>
          <a:stretch>
            <a:fillRect/>
          </a:stretch>
        </p:blipFill>
        <p:spPr>
          <a:xfrm>
            <a:off x="4572000" y="924300"/>
            <a:ext cx="4282500" cy="3682950"/>
          </a:xfrm>
          <a:prstGeom prst="rect">
            <a:avLst/>
          </a:prstGeom>
          <a:noFill/>
          <a:ln>
            <a:noFill/>
          </a:ln>
        </p:spPr>
      </p:pic>
      <p:sp>
        <p:nvSpPr>
          <p:cNvPr id="200" name="Google Shape;200;p37"/>
          <p:cNvSpPr txBox="1"/>
          <p:nvPr/>
        </p:nvSpPr>
        <p:spPr>
          <a:xfrm>
            <a:off x="953850" y="234800"/>
            <a:ext cx="6963300" cy="35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L1 Pareto Experiment</a:t>
            </a:r>
            <a:endParaRPr b="1" sz="1800">
              <a:solidFill>
                <a:schemeClr val="dk1"/>
              </a:solidFill>
            </a:endParaRPr>
          </a:p>
        </p:txBody>
      </p:sp>
      <p:sp>
        <p:nvSpPr>
          <p:cNvPr id="201" name="Google Shape;201;p37"/>
          <p:cNvSpPr txBox="1"/>
          <p:nvPr/>
        </p:nvSpPr>
        <p:spPr>
          <a:xfrm>
            <a:off x="262500" y="4702500"/>
            <a:ext cx="8752500" cy="44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How much time and space do we save for each of the real datasets we tested?</a:t>
            </a:r>
            <a:endParaRPr sz="1800">
              <a:solidFill>
                <a:schemeClr val="dk1"/>
              </a:solidFill>
            </a:endParaRPr>
          </a:p>
        </p:txBody>
      </p:sp>
      <p:sp>
        <p:nvSpPr>
          <p:cNvPr id="202" name="Google Shape;202;p37"/>
          <p:cNvSpPr txBox="1"/>
          <p:nvPr/>
        </p:nvSpPr>
        <p:spPr>
          <a:xfrm>
            <a:off x="4864025" y="77850"/>
            <a:ext cx="4071000" cy="75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Put n and p too</a:t>
            </a:r>
            <a:endParaRPr sz="1800">
              <a:solidFill>
                <a:schemeClr val="dk2"/>
              </a:solidFill>
            </a:endParaRPr>
          </a:p>
          <a:p>
            <a:pPr indent="0" lvl="0" marL="0" rtl="0" algn="l">
              <a:spcBef>
                <a:spcPts val="0"/>
              </a:spcBef>
              <a:spcAft>
                <a:spcPts val="0"/>
              </a:spcAft>
              <a:buNone/>
            </a:pPr>
            <a:r>
              <a:rPr lang="en" sz="1800">
                <a:solidFill>
                  <a:schemeClr val="dk2"/>
                </a:solidFill>
              </a:rPr>
              <a:t>Get rid of it.. rdatasets</a:t>
            </a:r>
            <a:endParaRPr sz="1800">
              <a:solidFill>
                <a:schemeClr val="dk2"/>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pic>
        <p:nvPicPr>
          <p:cNvPr id="207" name="Google Shape;207;p38" title="hpc_l2_efficiency_diff_vs_old_l2_new_l2.png"/>
          <p:cNvPicPr preferRelativeResize="0"/>
          <p:nvPr/>
        </p:nvPicPr>
        <p:blipFill>
          <a:blip r:embed="rId3">
            <a:alphaModFix/>
          </a:blip>
          <a:stretch>
            <a:fillRect/>
          </a:stretch>
        </p:blipFill>
        <p:spPr>
          <a:xfrm>
            <a:off x="144975" y="805550"/>
            <a:ext cx="4845649" cy="4167251"/>
          </a:xfrm>
          <a:prstGeom prst="rect">
            <a:avLst/>
          </a:prstGeom>
          <a:noFill/>
          <a:ln>
            <a:noFill/>
          </a:ln>
        </p:spPr>
      </p:pic>
      <p:sp>
        <p:nvSpPr>
          <p:cNvPr id="208" name="Google Shape;208;p38"/>
          <p:cNvSpPr txBox="1"/>
          <p:nvPr/>
        </p:nvSpPr>
        <p:spPr>
          <a:xfrm>
            <a:off x="953850" y="234800"/>
            <a:ext cx="6963300" cy="35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L2 Pareto Experiment</a:t>
            </a:r>
            <a:endParaRPr b="1" sz="1800">
              <a:solidFill>
                <a:schemeClr val="dk1"/>
              </a:solidFill>
            </a:endParaRPr>
          </a:p>
        </p:txBody>
      </p:sp>
      <p:sp>
        <p:nvSpPr>
          <p:cNvPr id="209" name="Google Shape;209;p38"/>
          <p:cNvSpPr txBox="1"/>
          <p:nvPr/>
        </p:nvSpPr>
        <p:spPr>
          <a:xfrm>
            <a:off x="5344875" y="1650000"/>
            <a:ext cx="3681000" cy="13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How much time and space do we save for each of the real datasets we tested for the L2 experiment?</a:t>
            </a:r>
            <a:endParaRPr sz="1800">
              <a:solidFill>
                <a:schemeClr val="dk1"/>
              </a:solidFill>
            </a:endParaRPr>
          </a:p>
        </p:txBody>
      </p:sp>
      <p:sp>
        <p:nvSpPr>
          <p:cNvPr id="210" name="Google Shape;210;p38"/>
          <p:cNvSpPr txBox="1"/>
          <p:nvPr/>
        </p:nvSpPr>
        <p:spPr>
          <a:xfrm>
            <a:off x="5417400" y="3559025"/>
            <a:ext cx="3681000" cy="89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Add glmnet</a:t>
            </a:r>
            <a:br>
              <a:rPr lang="en" sz="1800">
                <a:solidFill>
                  <a:schemeClr val="dk1"/>
                </a:solidFill>
              </a:rPr>
            </a:br>
            <a:r>
              <a:rPr lang="en" sz="1800">
                <a:solidFill>
                  <a:schemeClr val="dk1"/>
                </a:solidFill>
              </a:rPr>
              <a:t>Why do we need fuser at all.</a:t>
            </a:r>
            <a:endParaRPr sz="1800">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9"/>
          <p:cNvSpPr txBox="1"/>
          <p:nvPr/>
        </p:nvSpPr>
        <p:spPr>
          <a:xfrm>
            <a:off x="256675" y="177700"/>
            <a:ext cx="8520000" cy="468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600">
              <a:solidFill>
                <a:schemeClr val="dk1"/>
              </a:solidFill>
            </a:endParaRPr>
          </a:p>
          <a:p>
            <a:pPr indent="0" lvl="0" marL="0" rtl="0" algn="l">
              <a:spcBef>
                <a:spcPts val="0"/>
              </a:spcBef>
              <a:spcAft>
                <a:spcPts val="0"/>
              </a:spcAft>
              <a:buNone/>
            </a:pPr>
            <a:r>
              <a:t/>
            </a:r>
            <a:endParaRPr sz="600">
              <a:solidFill>
                <a:schemeClr val="dk1"/>
              </a:solidFill>
            </a:endParaRPr>
          </a:p>
          <a:p>
            <a:pPr indent="0" lvl="0" marL="0" rtl="0" algn="l">
              <a:spcBef>
                <a:spcPts val="0"/>
              </a:spcBef>
              <a:spcAft>
                <a:spcPts val="0"/>
              </a:spcAft>
              <a:buNone/>
            </a:pPr>
            <a:r>
              <a:rPr lang="en" sz="600">
                <a:solidFill>
                  <a:schemeClr val="dk1"/>
                </a:solidFill>
              </a:rPr>
              <a:t>Hallac, Leskovec, Boyd (KDD 2015), Network Lasso: Clustering and Optimization in Large Graphs</a:t>
            </a:r>
            <a:endParaRPr sz="600">
              <a:solidFill>
                <a:schemeClr val="dk1"/>
              </a:solidFill>
            </a:endParaRPr>
          </a:p>
          <a:p>
            <a:pPr indent="0" lvl="0" marL="0" rtl="0" algn="l">
              <a:spcBef>
                <a:spcPts val="0"/>
              </a:spcBef>
              <a:spcAft>
                <a:spcPts val="0"/>
              </a:spcAft>
              <a:buNone/>
            </a:pPr>
            <a:r>
              <a:rPr lang="en" sz="600">
                <a:solidFill>
                  <a:schemeClr val="dk1"/>
                </a:solidFill>
              </a:rPr>
              <a:t>https://stanford.edu/~boyd/papers/network_lasso.html</a:t>
            </a:r>
            <a:endParaRPr sz="600">
              <a:solidFill>
                <a:schemeClr val="dk1"/>
              </a:solidFill>
            </a:endParaRPr>
          </a:p>
          <a:p>
            <a:pPr indent="0" lvl="0" marL="0" rtl="0" algn="l">
              <a:spcBef>
                <a:spcPts val="0"/>
              </a:spcBef>
              <a:spcAft>
                <a:spcPts val="0"/>
              </a:spcAft>
              <a:buNone/>
            </a:pPr>
            <a:r>
              <a:rPr lang="en" sz="600">
                <a:solidFill>
                  <a:schemeClr val="dk1"/>
                </a:solidFill>
              </a:rPr>
              <a:t>PDF: </a:t>
            </a:r>
            <a:r>
              <a:rPr lang="en" sz="600" u="sng">
                <a:solidFill>
                  <a:schemeClr val="hlink"/>
                </a:solidFill>
                <a:hlinkClick r:id="rId3"/>
              </a:rPr>
              <a:t>https://stanford.edu/~boyd/papers/pdf/network_lasso.pdf</a:t>
            </a:r>
            <a:endParaRPr sz="600">
              <a:solidFill>
                <a:schemeClr val="dk1"/>
              </a:solidFill>
            </a:endParaRPr>
          </a:p>
          <a:p>
            <a:pPr indent="0" lvl="0" marL="0" rtl="0" algn="l">
              <a:spcBef>
                <a:spcPts val="0"/>
              </a:spcBef>
              <a:spcAft>
                <a:spcPts val="0"/>
              </a:spcAft>
              <a:buNone/>
            </a:pPr>
            <a:r>
              <a:t/>
            </a:r>
            <a:endParaRPr sz="600">
              <a:solidFill>
                <a:schemeClr val="dk1"/>
              </a:solidFill>
            </a:endParaRPr>
          </a:p>
          <a:p>
            <a:pPr indent="0" lvl="0" marL="0" rtl="0" algn="l">
              <a:spcBef>
                <a:spcPts val="0"/>
              </a:spcBef>
              <a:spcAft>
                <a:spcPts val="0"/>
              </a:spcAft>
              <a:buNone/>
            </a:pPr>
            <a:r>
              <a:t/>
            </a:r>
            <a:endParaRPr sz="600">
              <a:solidFill>
                <a:schemeClr val="dk1"/>
              </a:solidFill>
            </a:endParaRPr>
          </a:p>
          <a:p>
            <a:pPr indent="0" lvl="0" marL="0" rtl="0" algn="l">
              <a:spcBef>
                <a:spcPts val="0"/>
              </a:spcBef>
              <a:spcAft>
                <a:spcPts val="0"/>
              </a:spcAft>
              <a:buNone/>
            </a:pPr>
            <a:r>
              <a:rPr lang="en" sz="600">
                <a:solidFill>
                  <a:schemeClr val="dk1"/>
                </a:solidFill>
              </a:rPr>
              <a:t>Padilla et al. (Biometrika 2020), Adaptive nonparametric regression with the K-nearest neighbour fused lasso</a:t>
            </a:r>
            <a:endParaRPr sz="600">
              <a:solidFill>
                <a:schemeClr val="dk1"/>
              </a:solidFill>
            </a:endParaRPr>
          </a:p>
          <a:p>
            <a:pPr indent="0" lvl="0" marL="0" rtl="0" algn="l">
              <a:spcBef>
                <a:spcPts val="0"/>
              </a:spcBef>
              <a:spcAft>
                <a:spcPts val="0"/>
              </a:spcAft>
              <a:buNone/>
            </a:pPr>
            <a:r>
              <a:rPr lang="en" sz="600" u="sng">
                <a:solidFill>
                  <a:schemeClr val="hlink"/>
                </a:solidFill>
                <a:hlinkClick r:id="rId4"/>
              </a:rPr>
              <a:t>https://pmc.ncbi.nlm.nih.gov/articles/PMC7228543/</a:t>
            </a:r>
            <a:endParaRPr sz="600">
              <a:solidFill>
                <a:schemeClr val="dk1"/>
              </a:solidFill>
            </a:endParaRPr>
          </a:p>
          <a:p>
            <a:pPr indent="0" lvl="0" marL="0" rtl="0" algn="l">
              <a:spcBef>
                <a:spcPts val="0"/>
              </a:spcBef>
              <a:spcAft>
                <a:spcPts val="0"/>
              </a:spcAft>
              <a:buNone/>
            </a:pPr>
            <a:r>
              <a:t/>
            </a:r>
            <a:endParaRPr sz="600">
              <a:solidFill>
                <a:schemeClr val="dk1"/>
              </a:solidFill>
            </a:endParaRPr>
          </a:p>
          <a:p>
            <a:pPr indent="0" lvl="0" marL="0" rtl="0" algn="l">
              <a:spcBef>
                <a:spcPts val="0"/>
              </a:spcBef>
              <a:spcAft>
                <a:spcPts val="0"/>
              </a:spcAft>
              <a:buNone/>
            </a:pPr>
            <a:r>
              <a:t/>
            </a:r>
            <a:endParaRPr sz="600">
              <a:solidFill>
                <a:schemeClr val="dk1"/>
              </a:solidFill>
            </a:endParaRPr>
          </a:p>
          <a:p>
            <a:pPr indent="0" lvl="0" marL="0" rtl="0" algn="l">
              <a:spcBef>
                <a:spcPts val="0"/>
              </a:spcBef>
              <a:spcAft>
                <a:spcPts val="0"/>
              </a:spcAft>
              <a:buNone/>
            </a:pPr>
            <a:r>
              <a:t/>
            </a:r>
            <a:endParaRPr sz="600">
              <a:solidFill>
                <a:schemeClr val="dk1"/>
              </a:solidFill>
            </a:endParaRPr>
          </a:p>
          <a:p>
            <a:pPr indent="0" lvl="0" marL="0" rtl="0" algn="l">
              <a:spcBef>
                <a:spcPts val="0"/>
              </a:spcBef>
              <a:spcAft>
                <a:spcPts val="0"/>
              </a:spcAft>
              <a:buNone/>
            </a:pPr>
            <a:r>
              <a:rPr lang="en" sz="600">
                <a:solidFill>
                  <a:schemeClr val="dk1"/>
                </a:solidFill>
              </a:rPr>
              <a:t>Data (internal id)	n	p	k	Citation you can use in paper</a:t>
            </a:r>
            <a:endParaRPr sz="600">
              <a:solidFill>
                <a:schemeClr val="dk1"/>
              </a:solidFill>
            </a:endParaRPr>
          </a:p>
          <a:p>
            <a:pPr indent="0" lvl="0" marL="0" rtl="0" algn="l">
              <a:spcBef>
                <a:spcPts val="0"/>
              </a:spcBef>
              <a:spcAft>
                <a:spcPts val="0"/>
              </a:spcAft>
              <a:buNone/>
            </a:pPr>
            <a:r>
              <a:rPr lang="en" sz="600">
                <a:solidFill>
                  <a:schemeClr val="dk1"/>
                </a:solidFill>
              </a:rPr>
              <a:t>communities_crime	1991	100	43	Redmond, M. (2002). Communities and Crime [Dataset]. UCI ML Repository. https://doi.org/10.24432/C53W3X</a:t>
            </a:r>
            <a:endParaRPr sz="600">
              <a:solidFill>
                <a:schemeClr val="dk1"/>
              </a:solidFill>
            </a:endParaRPr>
          </a:p>
          <a:p>
            <a:pPr indent="0" lvl="0" marL="0" rtl="0" algn="l">
              <a:spcBef>
                <a:spcPts val="0"/>
              </a:spcBef>
              <a:spcAft>
                <a:spcPts val="0"/>
              </a:spcAft>
              <a:buNone/>
            </a:pPr>
            <a:r>
              <a:rPr lang="en" sz="600">
                <a:solidFill>
                  <a:schemeClr val="dk1"/>
                </a:solidFill>
              </a:rPr>
              <a:t>rdatasets_dietox	861	6	72	Lauridsen, C., Højsgaard, S., &amp; Sørensen, M. T. C. (1999). Influence of dietary rapeseed oil, vitamin E, and copper on pigs. Journal of Animal Science, 77, 906–916. (via geepack::dietox)</a:t>
            </a:r>
            <a:endParaRPr sz="600">
              <a:solidFill>
                <a:schemeClr val="dk1"/>
              </a:solidFill>
            </a:endParaRPr>
          </a:p>
          <a:p>
            <a:pPr indent="0" lvl="0" marL="0" rtl="0" algn="l">
              <a:spcBef>
                <a:spcPts val="0"/>
              </a:spcBef>
              <a:spcAft>
                <a:spcPts val="0"/>
              </a:spcAft>
              <a:buNone/>
            </a:pPr>
            <a:r>
              <a:rPr lang="en" sz="600">
                <a:solidFill>
                  <a:schemeClr val="dk1"/>
                </a:solidFill>
              </a:rPr>
              <a:t>rdatasets_exam_inner_london	4057	7	64	Goldstein, H., Rasbash, J., et al. (1993). A multilevel analysis of school examination results. Oxford Review of Education, 19, 425–433. (via mlmRev::Exam)</a:t>
            </a:r>
            <a:endParaRPr sz="600">
              <a:solidFill>
                <a:schemeClr val="dk1"/>
              </a:solidFill>
            </a:endParaRPr>
          </a:p>
          <a:p>
            <a:pPr indent="0" lvl="0" marL="0" rtl="0" algn="l">
              <a:spcBef>
                <a:spcPts val="0"/>
              </a:spcBef>
              <a:spcAft>
                <a:spcPts val="0"/>
              </a:spcAft>
              <a:buNone/>
            </a:pPr>
            <a:r>
              <a:rPr lang="en" sz="600">
                <a:solidFill>
                  <a:schemeClr val="dk1"/>
                </a:solidFill>
              </a:rPr>
              <a:t>rdatasets_crime4	630	57	90	Cornwell, C., &amp; Trumbull, W. N. (1994). Estimating the economic model of crime with panel data. Review of Economics and Statistics, 76, 360–366. (via wooldridge::crime4)</a:t>
            </a:r>
            <a:endParaRPr sz="600">
              <a:solidFill>
                <a:schemeClr val="dk1"/>
              </a:solidFill>
            </a:endParaRPr>
          </a:p>
          <a:p>
            <a:pPr indent="0" lvl="0" marL="0" rtl="0" algn="l">
              <a:spcBef>
                <a:spcPts val="0"/>
              </a:spcBef>
              <a:spcAft>
                <a:spcPts val="0"/>
              </a:spcAft>
              <a:buNone/>
            </a:pPr>
            <a:r>
              <a:rPr lang="en" sz="600">
                <a:solidFill>
                  <a:schemeClr val="dk1"/>
                </a:solidFill>
              </a:rPr>
              <a:t>rdatasets_empluk	1031	5	140	Arellano, M., &amp; Bond, S. (1991). Some tests of specification for panel data. Review of Economic Studies, 58, 277–297. (via plm::EmplUK)</a:t>
            </a:r>
            <a:endParaRPr sz="600">
              <a:solidFill>
                <a:schemeClr val="dk1"/>
              </a:solidFill>
            </a:endParaRPr>
          </a:p>
          <a:p>
            <a:pPr indent="0" lvl="0" marL="0" rtl="0" algn="l">
              <a:spcBef>
                <a:spcPts val="0"/>
              </a:spcBef>
              <a:spcAft>
                <a:spcPts val="0"/>
              </a:spcAft>
              <a:buNone/>
            </a:pPr>
            <a:r>
              <a:rPr lang="en" sz="600">
                <a:solidFill>
                  <a:schemeClr val="dk1"/>
                </a:solidFill>
              </a:rPr>
              <a:t>school_ilea	7185	10	160	Pinheiro, J., Bates, D., &amp; R Core Team. (2025). nlme (R package). https://doi.org/10.32614/CRAN.package.nlme ; Pinheiro, J. C., &amp; Bates, D. M. (2000). Mixed-Effects Models in S and S-PLUS. Springer. (inferred: your school_ilea is built from nlme::MathAchieve + MathAchSchool)</a:t>
            </a:r>
            <a:endParaRPr sz="600">
              <a:solidFill>
                <a:schemeClr val="dk1"/>
              </a:solidFill>
            </a:endParaRPr>
          </a:p>
          <a:p>
            <a:pPr indent="0" lvl="0" marL="0" rtl="0" algn="l">
              <a:spcBef>
                <a:spcPts val="0"/>
              </a:spcBef>
              <a:spcAft>
                <a:spcPts val="0"/>
              </a:spcAft>
              <a:buNone/>
            </a:pPr>
            <a:r>
              <a:rPr lang="en" sz="600">
                <a:solidFill>
                  <a:schemeClr val="dk1"/>
                </a:solidFill>
              </a:rPr>
              <a:t>rdatasets_hsb82	7185	6	160	Raudenbush, S., &amp; Bryk, A. (2002). Hierarchical Linear Models (Chapter 4). Sage. (for mlmRev::Hsb82)</a:t>
            </a:r>
            <a:endParaRPr sz="600">
              <a:solidFill>
                <a:schemeClr val="dk1"/>
              </a:solidFill>
            </a:endParaRPr>
          </a:p>
          <a:p>
            <a:pPr indent="0" lvl="0" marL="0" rtl="0" algn="l">
              <a:spcBef>
                <a:spcPts val="0"/>
              </a:spcBef>
              <a:spcAft>
                <a:spcPts val="0"/>
              </a:spcAft>
              <a:buNone/>
            </a:pPr>
            <a:r>
              <a:rPr lang="en" sz="600">
                <a:solidFill>
                  <a:schemeClr val="dk1"/>
                </a:solidFill>
              </a:rPr>
              <a:t>owid_co2	7763	4	164	Ritchie, H., Rosado, P., &amp; Roser, M. (2023). CO₂ and Greenhouse Gas Emissions (Our World in Data). (dataset pages cite Global Carbon Budget with OWID processing)</a:t>
            </a:r>
            <a:endParaRPr sz="600">
              <a:solidFill>
                <a:schemeClr val="dk1"/>
              </a:solidFill>
            </a:endParaRPr>
          </a:p>
          <a:p>
            <a:pPr indent="0" lvl="0" marL="0" rtl="0" algn="l">
              <a:spcBef>
                <a:spcPts val="0"/>
              </a:spcBef>
              <a:spcAft>
                <a:spcPts val="0"/>
              </a:spcAft>
              <a:buNone/>
            </a:pPr>
            <a:r>
              <a:rPr lang="en" sz="600">
                <a:solidFill>
                  <a:schemeClr val="dk1"/>
                </a:solidFill>
              </a:rPr>
              <a:t>electricity_load	200000	3	120	Trindade, A. (2015). ElectricityLoadDiagrams20112014 [Dataset]. UCI ML Repository. https://doi.org/10.24432/C58C86</a:t>
            </a:r>
            <a:endParaRPr sz="600">
              <a:solidFill>
                <a:schemeClr val="dk1"/>
              </a:solidFill>
            </a:endParaRPr>
          </a:p>
          <a:p>
            <a:pPr indent="0" lvl="0" marL="0" rtl="0" algn="l">
              <a:spcBef>
                <a:spcPts val="0"/>
              </a:spcBef>
              <a:spcAft>
                <a:spcPts val="0"/>
              </a:spcAft>
              <a:buNone/>
            </a:pPr>
            <a:r>
              <a:rPr lang="en" sz="600">
                <a:solidFill>
                  <a:schemeClr val="dk1"/>
                </a:solidFill>
              </a:rPr>
              <a:t>world_bank_wdi	10830	4	229	World Bank. World Development Indicators (DataBank database). https://databank.worldbank.org/id/464fc223 (DataBank marks source as WDI and instructs indicator-level metadata citation)</a:t>
            </a:r>
            <a:endParaRPr sz="6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